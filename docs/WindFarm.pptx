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embeddedFontLst>
    <p:embeddedFont>
      <p:font typeface="Inter SemiBold"/>
      <p:regular r:id="rId44"/>
      <p:bold r:id="rId45"/>
      <p:italic r:id="rId46"/>
      <p:boldItalic r:id="rId47"/>
    </p:embeddedFont>
    <p:embeddedFont>
      <p:font typeface="Inter"/>
      <p:regular r:id="rId48"/>
      <p:bold r:id="rId49"/>
      <p:italic r:id="rId50"/>
      <p:boldItalic r:id="rId51"/>
    </p:embeddedFont>
    <p:embeddedFont>
      <p:font typeface="Oswald"/>
      <p:regular r:id="rId52"/>
      <p:bold r:id="rId53"/>
    </p:embeddedFont>
    <p:embeddedFont>
      <p:font typeface="Inter Medium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8" roundtripDataSignature="AMtx7miCh3mNG6damUa3kFF6V/ZnnbZd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C36DBB-3BF0-43E7-A5AC-AC39A1A9CF5F}">
  <a:tblStyle styleId="{ACC36DBB-3BF0-43E7-A5AC-AC39A1A9CF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291E1E08-F8E3-4FC8-A94F-52DA3FBF5E9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InterSemiBold-regular.fntdata"/><Relationship Id="rId43" Type="http://schemas.openxmlformats.org/officeDocument/2006/relationships/slide" Target="slides/slide38.xml"/><Relationship Id="rId46" Type="http://schemas.openxmlformats.org/officeDocument/2006/relationships/font" Target="fonts/InterSemiBold-italic.fntdata"/><Relationship Id="rId45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-regular.fntdata"/><Relationship Id="rId47" Type="http://schemas.openxmlformats.org/officeDocument/2006/relationships/font" Target="fonts/InterSemiBold-boldItalic.fntdata"/><Relationship Id="rId49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-boldItalic.fntdata"/><Relationship Id="rId50" Type="http://schemas.openxmlformats.org/officeDocument/2006/relationships/font" Target="fonts/Inter-italic.fntdata"/><Relationship Id="rId53" Type="http://schemas.openxmlformats.org/officeDocument/2006/relationships/font" Target="fonts/Oswald-bold.fntdata"/><Relationship Id="rId52" Type="http://schemas.openxmlformats.org/officeDocument/2006/relationships/font" Target="fonts/Oswald-regular.fntdata"/><Relationship Id="rId11" Type="http://schemas.openxmlformats.org/officeDocument/2006/relationships/slide" Target="slides/slide6.xml"/><Relationship Id="rId55" Type="http://schemas.openxmlformats.org/officeDocument/2006/relationships/font" Target="fonts/InterMedium-bold.fntdata"/><Relationship Id="rId10" Type="http://schemas.openxmlformats.org/officeDocument/2006/relationships/slide" Target="slides/slide5.xml"/><Relationship Id="rId54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57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56" Type="http://schemas.openxmlformats.org/officeDocument/2006/relationships/font" Target="fonts/Inter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4b1e92257_31_7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4b1e92257_31_70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4b1e92257_31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e4b1e92257_31_1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4b1e92257_31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4b1e92257_31_15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4b1e92257_31_7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e4b1e92257_31_70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4b1e92257_31_3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e4b1e92257_31_3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4b1e92257_31_3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4b1e92257_31_35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4b1e92257_31_6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e4b1e92257_31_69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4b1e92257_31_6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e4b1e92257_31_69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5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0" y="0"/>
            <a:ext cx="12192000" cy="3619500"/>
            <a:chOff x="0" y="0"/>
            <a:chExt cx="12192000" cy="3619500"/>
          </a:xfrm>
        </p:grpSpPr>
        <p:pic>
          <p:nvPicPr>
            <p:cNvPr descr="A breathtaking, high-angle cinematic shot of a massive offshore wind farm in the middle of a deep blue ocean, with mist-covered horizons and sunlight reflecting off the water, clean industrial aesthetic." id="88" name="Google Shape;88;p1"/>
            <p:cNvPicPr preferRelativeResize="0"/>
            <p:nvPr/>
          </p:nvPicPr>
          <p:blipFill rotWithShape="1">
            <a:blip r:embed="rId4">
              <a:alphaModFix/>
            </a:blip>
            <a:srcRect b="23608" l="0" r="0" t="23613"/>
            <a:stretch/>
          </p:blipFill>
          <p:spPr>
            <a:xfrm>
              <a:off x="0" y="0"/>
              <a:ext cx="12192000" cy="36195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pic>
          <p:nvPicPr>
            <p:cNvPr id="89" name="Google Shape;89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9144000" cy="3619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1"/>
          <p:cNvSpPr txBox="1"/>
          <p:nvPr/>
        </p:nvSpPr>
        <p:spPr>
          <a:xfrm>
            <a:off x="762000" y="1590675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6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Morskie Farmy Wiatrowe</a:t>
            </a:r>
            <a:endParaRPr sz="6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62000" y="28428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l-PL" sz="2800">
                <a:solidFill>
                  <a:srgbClr val="0EA5E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Analiza Opłacalności</a:t>
            </a:r>
            <a:endParaRPr b="0" sz="2800">
              <a:solidFill>
                <a:srgbClr val="0EA5E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762000" y="4191000"/>
            <a:ext cx="10668000" cy="666900"/>
            <a:chOff x="762000" y="4191000"/>
            <a:chExt cx="10668000" cy="666900"/>
          </a:xfrm>
        </p:grpSpPr>
        <p:sp>
          <p:nvSpPr>
            <p:cNvPr id="93" name="Google Shape;93;p1"/>
            <p:cNvSpPr/>
            <p:nvPr/>
          </p:nvSpPr>
          <p:spPr>
            <a:xfrm>
              <a:off x="762000" y="4191000"/>
              <a:ext cx="10668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762000" y="4381500"/>
              <a:ext cx="1066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-PL" sz="22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Politechnika Warszawska</a:t>
              </a:r>
              <a:endParaRPr b="0" sz="22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95" name="Google Shape;95;p1"/>
          <p:cNvSpPr txBox="1"/>
          <p:nvPr/>
        </p:nvSpPr>
        <p:spPr>
          <a:xfrm>
            <a:off x="762000" y="5048250"/>
            <a:ext cx="514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905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Autorzy Projektu</a:t>
            </a:r>
            <a:endParaRPr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125"/>
              </a:spcBef>
              <a:spcAft>
                <a:spcPts val="0"/>
              </a:spcAft>
              <a:buNone/>
            </a:pPr>
            <a:r>
              <a:rPr b="0" lang="pl-PL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Weronika Gozdera • Mikołaj Kita • Dawid Sroczyk</a:t>
            </a:r>
            <a:endParaRPr b="0" sz="13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pl-PL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Julia Dudzińska • Jakub Oganowski</a:t>
            </a:r>
            <a:endParaRPr b="0" sz="13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286500" y="5048250"/>
            <a:ext cx="514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współpracy z DNV i </a:t>
            </a:r>
            <a:r>
              <a:rPr lang="pl-PL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Uniwersytetem Gdańskim</a:t>
            </a:r>
            <a:endParaRPr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125"/>
              </a:spcBef>
              <a:spcAft>
                <a:spcPts val="0"/>
              </a:spcAft>
              <a:buNone/>
            </a:pPr>
            <a:r>
              <a:rPr b="0" lang="pl-PL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Michał Gronert</a:t>
            </a:r>
            <a:endParaRPr b="0" sz="13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pl-PL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Aleksandra Cupiał</a:t>
            </a:r>
            <a:endParaRPr b="0" sz="13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8000988" y="1714500"/>
            <a:ext cx="3429000" cy="3810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381488" y="1714500"/>
            <a:ext cx="3429000" cy="3810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762000" y="1714500"/>
            <a:ext cx="3429000" cy="3810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" name="Google Shape;104;p2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762000" y="381000"/>
            <a:ext cx="10668000" cy="914550"/>
            <a:chOff x="762000" y="381000"/>
            <a:chExt cx="10668000" cy="914550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762000" y="38100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4800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Motywacja</a:t>
              </a:r>
              <a:endParaRPr b="1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762000" y="123825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4667250" y="2058670"/>
            <a:ext cx="2857500" cy="3370580"/>
            <a:chOff x="4667250" y="2058670"/>
            <a:chExt cx="2857500" cy="3370580"/>
          </a:xfrm>
        </p:grpSpPr>
        <p:sp>
          <p:nvSpPr>
            <p:cNvPr id="111" name="Google Shape;111;p2"/>
            <p:cNvSpPr txBox="1"/>
            <p:nvPr/>
          </p:nvSpPr>
          <p:spPr>
            <a:xfrm>
              <a:off x="4667250" y="2058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37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euro_symbol</a:t>
              </a:r>
              <a:endParaRPr sz="370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4667250" y="27622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Inwestycje</a:t>
              </a:r>
              <a:endParaRPr b="1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Wielomiliardowe nakłady sprawiają, że dokładna estymacja </a:t>
              </a:r>
              <a:r>
                <a:rPr b="1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CAPEX</a:t>
              </a:r>
              <a:r>
                <a:rPr b="0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jest kluczowa dla opłacalności projektów.</a:t>
              </a:r>
              <a:endParaRPr b="0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8286750" y="2058670"/>
            <a:ext cx="2857500" cy="3370580"/>
            <a:chOff x="8286750" y="2058670"/>
            <a:chExt cx="2857500" cy="3370580"/>
          </a:xfrm>
        </p:grpSpPr>
        <p:sp>
          <p:nvSpPr>
            <p:cNvPr id="114" name="Google Shape;114;p2"/>
            <p:cNvSpPr txBox="1"/>
            <p:nvPr/>
          </p:nvSpPr>
          <p:spPr>
            <a:xfrm>
              <a:off x="8286750" y="2058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37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integration_instructions</a:t>
              </a:r>
              <a:endParaRPr sz="370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8286750" y="27622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Luka Narzędziowa</a:t>
              </a:r>
              <a:endParaRPr b="1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Brak narzędzi open source integrujących dane historyczne, środowiskowe i modelowanie predykcyjne.</a:t>
              </a:r>
              <a:endParaRPr b="0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1047750" y="2058670"/>
            <a:ext cx="2857500" cy="3370580"/>
            <a:chOff x="1047750" y="2058670"/>
            <a:chExt cx="2857500" cy="3370580"/>
          </a:xfrm>
        </p:grpSpPr>
        <p:sp>
          <p:nvSpPr>
            <p:cNvPr id="117" name="Google Shape;117;p2"/>
            <p:cNvSpPr txBox="1"/>
            <p:nvPr/>
          </p:nvSpPr>
          <p:spPr>
            <a:xfrm>
              <a:off x="1047750" y="2058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37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sz="370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1047750" y="27622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Transformacja</a:t>
              </a:r>
              <a:endParaRPr b="1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Morska energetyka wiatrowa to kamień węgielny zmian – do </a:t>
              </a:r>
              <a:r>
                <a:rPr b="1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2040</a:t>
              </a:r>
              <a:r>
                <a:rPr b="0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roku dostarczy ponad </a:t>
              </a:r>
              <a:r>
                <a:rPr b="1" lang="pl-PL" sz="1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30%</a:t>
              </a:r>
              <a:r>
                <a:rPr b="0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europejskiej energii.</a:t>
              </a:r>
              <a:endParaRPr b="0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3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762000" y="381000"/>
            <a:ext cx="10668000" cy="914550"/>
            <a:chOff x="762000" y="381000"/>
            <a:chExt cx="10668000" cy="914550"/>
          </a:xfrm>
        </p:grpSpPr>
        <p:sp>
          <p:nvSpPr>
            <p:cNvPr id="127" name="Google Shape;127;p3"/>
            <p:cNvSpPr txBox="1"/>
            <p:nvPr/>
          </p:nvSpPr>
          <p:spPr>
            <a:xfrm>
              <a:off x="762000" y="38100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4800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Cele</a:t>
              </a:r>
              <a:endParaRPr b="1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62000" y="1238250"/>
              <a:ext cx="571500" cy="57300"/>
            </a:xfrm>
            <a:prstGeom prst="roundRect">
              <a:avLst>
                <a:gd fmla="val 49869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762000" y="1714500"/>
            <a:ext cx="3429000" cy="3810000"/>
            <a:chOff x="762000" y="1714500"/>
            <a:chExt cx="3429000" cy="3810000"/>
          </a:xfrm>
        </p:grpSpPr>
        <p:sp>
          <p:nvSpPr>
            <p:cNvPr id="130" name="Google Shape;130;p3"/>
            <p:cNvSpPr/>
            <p:nvPr/>
          </p:nvSpPr>
          <p:spPr>
            <a:xfrm>
              <a:off x="762000" y="1714500"/>
              <a:ext cx="3429000" cy="3810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1047750" y="205428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37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370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1047750" y="266700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Estymacja CAPEX</a:t>
              </a:r>
              <a:endParaRPr b="1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Przewidywanie jednostkowego CAPEX-u (€/MW) dla nowych projektów morskich farm wiatrowych.</a:t>
              </a:r>
              <a:endParaRPr b="0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4381500" y="1714500"/>
            <a:ext cx="3429000" cy="3810000"/>
            <a:chOff x="4381500" y="1714500"/>
            <a:chExt cx="3429000" cy="3810000"/>
          </a:xfrm>
        </p:grpSpPr>
        <p:sp>
          <p:nvSpPr>
            <p:cNvPr id="134" name="Google Shape;134;p3"/>
            <p:cNvSpPr/>
            <p:nvPr/>
          </p:nvSpPr>
          <p:spPr>
            <a:xfrm>
              <a:off x="4381500" y="1714500"/>
              <a:ext cx="3429000" cy="3810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4667250" y="205428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37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370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4667250" y="266700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Analiza Czynników</a:t>
              </a:r>
              <a:endParaRPr b="1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Identyfikacja najważniejszych cech wpływających na koszty kapitałowe inwestycji.</a:t>
              </a:r>
              <a:endParaRPr b="0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7" name="Google Shape;137;p3"/>
          <p:cNvGrpSpPr/>
          <p:nvPr/>
        </p:nvGrpSpPr>
        <p:grpSpPr>
          <a:xfrm>
            <a:off x="8001000" y="1714500"/>
            <a:ext cx="3429000" cy="3810000"/>
            <a:chOff x="8001000" y="1714500"/>
            <a:chExt cx="3429000" cy="3810000"/>
          </a:xfrm>
        </p:grpSpPr>
        <p:sp>
          <p:nvSpPr>
            <p:cNvPr id="138" name="Google Shape;138;p3"/>
            <p:cNvSpPr/>
            <p:nvPr/>
          </p:nvSpPr>
          <p:spPr>
            <a:xfrm>
              <a:off x="8001000" y="1714500"/>
              <a:ext cx="3429000" cy="3810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8286750" y="205428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37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web</a:t>
              </a:r>
              <a:endParaRPr sz="370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8286750" y="266700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Narzędzie Decyzyjne</a:t>
              </a:r>
              <a:endParaRPr b="1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Dostarczenie interaktywnego narzędzia wspomagającego podejmowanie decyzji poprzez interfejs internetowy.</a:t>
              </a:r>
              <a:endParaRPr b="0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4b1e92257_31_7010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Dane</a:t>
            </a:r>
            <a:endParaRPr b="1" sz="120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6" name="Google Shape;146;g3e4b1e92257_31_7010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g3e4b1e92257_31_7010"/>
          <p:cNvGrpSpPr/>
          <p:nvPr/>
        </p:nvGrpSpPr>
        <p:grpSpPr>
          <a:xfrm>
            <a:off x="363053" y="738431"/>
            <a:ext cx="11733697" cy="5643319"/>
            <a:chOff x="363053" y="738431"/>
            <a:chExt cx="11733697" cy="5643319"/>
          </a:xfrm>
        </p:grpSpPr>
        <p:sp>
          <p:nvSpPr>
            <p:cNvPr id="148" name="Google Shape;148;g3e4b1e92257_31_7010"/>
            <p:cNvSpPr/>
            <p:nvPr/>
          </p:nvSpPr>
          <p:spPr>
            <a:xfrm rot="900209">
              <a:off x="9524908" y="952557"/>
              <a:ext cx="1905146" cy="1905146"/>
            </a:xfrm>
            <a:prstGeom prst="roundRect">
              <a:avLst>
                <a:gd fmla="val 10000" name="adj"/>
              </a:avLst>
            </a:prstGeom>
            <a:solidFill>
              <a:srgbClr val="0EA5E9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g3e4b1e92257_31_7010"/>
            <p:cNvSpPr/>
            <p:nvPr/>
          </p:nvSpPr>
          <p:spPr>
            <a:xfrm>
              <a:off x="9810750" y="4095750"/>
              <a:ext cx="2286000" cy="2286000"/>
            </a:xfrm>
            <a:prstGeom prst="ellipse">
              <a:avLst/>
            </a:prstGeom>
            <a:solidFill>
              <a:srgbClr val="0EA5E9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3e4b1e92257_31_7010"/>
            <p:cNvSpPr/>
            <p:nvPr/>
          </p:nvSpPr>
          <p:spPr>
            <a:xfrm rot="-599893">
              <a:off x="476252" y="4762502"/>
              <a:ext cx="1429002" cy="1429002"/>
            </a:xfrm>
            <a:prstGeom prst="roundRect">
              <a:avLst>
                <a:gd fmla="val 50000" name="adj"/>
              </a:avLst>
            </a:prstGeom>
            <a:solidFill>
              <a:srgbClr val="0EA5E9">
                <a:alpha val="4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g3e4b1e92257_31_7010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e4b1e92257_31_7010"/>
          <p:cNvSpPr/>
          <p:nvPr/>
        </p:nvSpPr>
        <p:spPr>
          <a:xfrm>
            <a:off x="970225" y="4347650"/>
            <a:ext cx="664800" cy="57300"/>
          </a:xfrm>
          <a:prstGeom prst="roundRect">
            <a:avLst>
              <a:gd fmla="val 4986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14500"/>
            <a:ext cx="9144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5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160" name="Google Shape;160;p5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5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Dane wejściowe</a:t>
            </a:r>
            <a:endParaRPr b="1" i="0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62000" y="1238250"/>
            <a:ext cx="571500" cy="57300"/>
          </a:xfrm>
          <a:prstGeom prst="roundRect">
            <a:avLst>
              <a:gd fmla="val 4999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5"/>
          <p:cNvGrpSpPr/>
          <p:nvPr/>
        </p:nvGrpSpPr>
        <p:grpSpPr>
          <a:xfrm>
            <a:off x="762000" y="1714500"/>
            <a:ext cx="10668000" cy="4286400"/>
            <a:chOff x="762000" y="1714500"/>
            <a:chExt cx="10668000" cy="4286400"/>
          </a:xfrm>
        </p:grpSpPr>
        <p:sp>
          <p:nvSpPr>
            <p:cNvPr id="165" name="Google Shape;165;p5"/>
            <p:cNvSpPr/>
            <p:nvPr/>
          </p:nvSpPr>
          <p:spPr>
            <a:xfrm>
              <a:off x="762000" y="1714500"/>
              <a:ext cx="10668000" cy="4286400"/>
            </a:xfrm>
            <a:prstGeom prst="roundRect">
              <a:avLst>
                <a:gd fmla="val 266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1047750" y="2000250"/>
              <a:ext cx="10096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53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10 oryginalnych kolumn:</a:t>
              </a:r>
              <a:endParaRPr b="1" sz="153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wind_farm_name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(nazwa farmy wiatrowej)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country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(kraj)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commissioning_year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(rok oddania do użytku)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installed_capacity_MW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(moc zainstalowana MW)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turbine_model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(model turbiny)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foundation_type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(typ fundamentu)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water_depth_m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(głębokość wody m)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distance_from_shore_km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(odległość od brzegu km)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total_project_budget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(całkowity budżet projektu)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Inter"/>
                <a:buChar char="●"/>
              </a:pPr>
              <a:r>
                <a:rPr lang="pl-PL" sz="136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project_lifetime_years </a:t>
              </a:r>
              <a:r>
                <a:rPr b="0" lang="pl-PL" sz="136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(okres eksploatacji projektu w latach)</a:t>
              </a:r>
              <a:endParaRPr b="0" sz="136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6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173" name="Google Shape;173;p6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" name="Google Shape;175;p6"/>
          <p:cNvGrpSpPr/>
          <p:nvPr/>
        </p:nvGrpSpPr>
        <p:grpSpPr>
          <a:xfrm>
            <a:off x="762000" y="381000"/>
            <a:ext cx="10668000" cy="1143000"/>
            <a:chOff x="762000" y="381000"/>
            <a:chExt cx="10668000" cy="1143000"/>
          </a:xfrm>
        </p:grpSpPr>
        <p:sp>
          <p:nvSpPr>
            <p:cNvPr id="176" name="Google Shape;176;p6"/>
            <p:cNvSpPr txBox="1"/>
            <p:nvPr/>
          </p:nvSpPr>
          <p:spPr>
            <a:xfrm>
              <a:off x="762000" y="381000"/>
              <a:ext cx="1066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4800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Dane wejściowe - problemy</a:t>
              </a:r>
              <a:endParaRPr b="1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762000" y="1238250"/>
              <a:ext cx="571500" cy="57300"/>
            </a:xfrm>
            <a:prstGeom prst="roundRect">
              <a:avLst>
                <a:gd fmla="val 49869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6"/>
          <p:cNvGrpSpPr/>
          <p:nvPr/>
        </p:nvGrpSpPr>
        <p:grpSpPr>
          <a:xfrm>
            <a:off x="762000" y="1714500"/>
            <a:ext cx="10668000" cy="4286400"/>
            <a:chOff x="762000" y="1714500"/>
            <a:chExt cx="10668000" cy="4286400"/>
          </a:xfrm>
        </p:grpSpPr>
        <p:sp>
          <p:nvSpPr>
            <p:cNvPr id="179" name="Google Shape;179;p6"/>
            <p:cNvSpPr/>
            <p:nvPr/>
          </p:nvSpPr>
          <p:spPr>
            <a:xfrm>
              <a:off x="762000" y="1714500"/>
              <a:ext cx="10668000" cy="42864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1047750" y="2000250"/>
              <a:ext cx="10096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155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124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24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Mały zbiór danych</a:t>
              </a:r>
              <a:endParaRPr b="1" sz="124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Tylko 182 rekordy – bardzo mały zbiór danych dla uczenia maszynowego.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pl-PL" sz="155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124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24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Brakujące dane</a:t>
              </a:r>
              <a:endParaRPr b="1" sz="124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Wiele brakujących danych w kluczowych kolumnach (całkowity budżet projektu, moc zainstalowana MW).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pl-PL" sz="155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text_fields</a:t>
              </a:r>
              <a:endParaRPr sz="124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24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Format tekstowy cech</a:t>
              </a:r>
              <a:endParaRPr b="1" sz="124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Cechy zakodowane jako tekst, np. budżet „GBP 4,2 mld”, „USD 3,64 mld”, model turbiny </a:t>
              </a:r>
              <a:r>
                <a:rPr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„</a:t>
              </a:r>
              <a:r>
                <a:rPr b="0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Siemens Gamesa SWT-7.0-154</a:t>
              </a:r>
              <a:r>
                <a:rPr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”</a:t>
              </a:r>
              <a:r>
                <a:rPr b="0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pl-PL" sz="155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location_off</a:t>
              </a:r>
              <a:endParaRPr sz="124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24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Brak danych geograficznych</a:t>
              </a:r>
              <a:endParaRPr b="1" sz="124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Brak współrzędnych geograficznych (szerokość i długość geograficzna) oraz powierzchni farmy.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7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186" name="Google Shape;186;p7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7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Proces przetwarzania danych - schemat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62000" y="1238250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 txBox="1"/>
          <p:nvPr>
            <p:ph idx="1" type="body"/>
          </p:nvPr>
        </p:nvSpPr>
        <p:spPr>
          <a:xfrm>
            <a:off x="762000" y="1714500"/>
            <a:ext cx="10668000" cy="428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Surowe dane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Ręczne uzupełnianie danych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Parsowanie:</a:t>
            </a:r>
            <a:r>
              <a:rPr b="0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[Model turbiny | kolumny zakresowe | budżet]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Indeksacja inflacji budżetu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Wzbogacanie danych – dane środowiskowe:</a:t>
            </a:r>
            <a:r>
              <a:rPr b="0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[wietrzność | falowanie | głębokość wód]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marR="142096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Wzbogacanie danych – analiza położenia:</a:t>
            </a:r>
            <a:r>
              <a:rPr b="0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[odległość od portu operacyjnego | odległość od portu budowy | odległość od brzegu]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Analiza zasad odpowiedzialności OSS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Filtrowanie</a:t>
            </a:r>
            <a:r>
              <a:rPr b="0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(usuwanie wierszy z brakującymi obowiązkowymi kolumnami)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Kodowanie One-Hot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Dane gotowe do zasilenia modelu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8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196" name="Google Shape;196;p8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8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Ręczne uzupełnianie danych</a:t>
            </a:r>
            <a:endParaRPr b="1" i="0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62000" y="1238250"/>
            <a:ext cx="571500" cy="57300"/>
          </a:xfrm>
          <a:prstGeom prst="roundRect">
            <a:avLst>
              <a:gd fmla="val 4986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 txBox="1"/>
          <p:nvPr>
            <p:ph idx="1" type="body"/>
          </p:nvPr>
        </p:nvSpPr>
        <p:spPr>
          <a:xfrm>
            <a:off x="762000" y="1714500"/>
            <a:ext cx="10668000" cy="428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0" lIns="285750" spcFirstLastPara="1" rIns="285750" wrap="square" tIns="28575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pl-PL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Kilka kluczowych kolumn nie było obecnych w </a:t>
            </a:r>
            <a:r>
              <a:rPr lang="pl-PL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wejściowym </a:t>
            </a:r>
            <a:r>
              <a:rPr b="0" i="0" lang="pl-PL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zbiorze danych i musiało zostać uzupełnionych poprzez ręczne wyszukiwanie w sieci:</a:t>
            </a:r>
            <a:endParaRPr b="0" i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Inter"/>
              <a:buChar char="●"/>
            </a:pPr>
            <a:r>
              <a:rPr b="1" i="0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Kolumny dodane ręcznie:</a:t>
            </a:r>
            <a:r>
              <a:rPr b="0" i="0" lang="pl-PL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pl-PL" sz="14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LAT, LON</a:t>
            </a:r>
            <a:r>
              <a:rPr b="0" i="0" lang="pl-PL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– współrzędne geograficzne, </a:t>
            </a:r>
            <a:r>
              <a:rPr i="0" lang="pl-PL" sz="14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area_sqkm </a:t>
            </a:r>
            <a:r>
              <a:rPr b="0" i="0" lang="pl-PL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– powierzchnia farmy, brakujące wartości w </a:t>
            </a:r>
            <a:r>
              <a:rPr i="0" lang="pl-PL" sz="14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installed_capacity_MW </a:t>
            </a:r>
            <a:r>
              <a:rPr b="0" i="0" lang="pl-PL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 </a:t>
            </a:r>
            <a:r>
              <a:rPr i="0" lang="pl-PL" sz="14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total_project_budget</a:t>
            </a:r>
            <a:endParaRPr i="0" sz="1400">
              <a:solidFill>
                <a:srgbClr val="47556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1125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Inter"/>
              <a:buChar char="●"/>
            </a:pPr>
            <a:r>
              <a:rPr b="1" i="0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Przykładowe źródła danych:</a:t>
            </a:r>
            <a:r>
              <a:rPr b="0" i="0" lang="pl-PL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Wind Energy Database (thewindpower.net), strony deweloperów projektów, Wikipedia</a:t>
            </a:r>
            <a:endParaRPr b="0" i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155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warning </a:t>
            </a:r>
            <a:r>
              <a:rPr b="1" i="0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Współrzędne geograficzne (LAT, LON):</a:t>
            </a:r>
            <a:r>
              <a:rPr b="0" i="0" lang="pl-PL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są warunkiem wstępnym dla wszelkiego późniejszego wzbogacania danych opartego na API (prędkość wiatru, wysokość fal, odległości od portów).</a:t>
            </a:r>
            <a:endParaRPr b="0" i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g3e4b1e92257_31_1329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206" name="Google Shape;206;g3e4b1e92257_31_1329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g3e4b1e92257_31_1329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g3e4b1e92257_31_1329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Parsowanie – model turbiny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9" name="Google Shape;209;g3e4b1e92257_31_1329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g3e4b1e92257_31_1329"/>
          <p:cNvGrpSpPr/>
          <p:nvPr/>
        </p:nvGrpSpPr>
        <p:grpSpPr>
          <a:xfrm>
            <a:off x="762000" y="1714461"/>
            <a:ext cx="10668000" cy="4696854"/>
            <a:chOff x="762000" y="1714500"/>
            <a:chExt cx="10668000" cy="4191000"/>
          </a:xfrm>
        </p:grpSpPr>
        <p:sp>
          <p:nvSpPr>
            <p:cNvPr id="211" name="Google Shape;211;g3e4b1e92257_31_1329"/>
            <p:cNvSpPr/>
            <p:nvPr/>
          </p:nvSpPr>
          <p:spPr>
            <a:xfrm>
              <a:off x="762000" y="1714500"/>
              <a:ext cx="10668000" cy="4191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g3e4b1e92257_31_1329"/>
            <p:cNvSpPr txBox="1"/>
            <p:nvPr/>
          </p:nvSpPr>
          <p:spPr>
            <a:xfrm>
              <a:off x="762000" y="1714500"/>
              <a:ext cx="10668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Model turbiny → producent turbiny + moc turbiny [MW]</a:t>
              </a:r>
              <a:endParaRPr b="1" sz="2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Inter"/>
                <a:buChar char="●"/>
              </a:pPr>
              <a:r>
                <a:rPr b="1" lang="pl-PL" sz="16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Producent:</a:t>
              </a:r>
              <a:r>
                <a:rPr lang="pl-PL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dopasowanie producentów za pomocą wyrażeń regularnych (regex)</a:t>
              </a:r>
              <a:endParaRPr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Inter"/>
                <a:buChar char="●"/>
              </a:pPr>
              <a:r>
                <a:rPr b="1" lang="pl-PL" sz="16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Moc:</a:t>
              </a:r>
              <a:r>
                <a:rPr lang="pl-PL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wiele wzorców regex – bezpośrednie MW, SWT-X.X, SG X.X, V164-X.X; konwersja kW→MW; filtr prawdopodobnego zakresu 0.1–20 MW</a:t>
              </a:r>
              <a:endParaRPr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aphicFrame>
        <p:nvGraphicFramePr>
          <p:cNvPr id="213" name="Google Shape;213;g3e4b1e92257_31_1329"/>
          <p:cNvGraphicFramePr/>
          <p:nvPr/>
        </p:nvGraphicFramePr>
        <p:xfrm>
          <a:off x="1596725" y="39253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{ACC36DBB-3BF0-43E7-A5AC-AC39A1A9CF5F}</a:tableStyleId>
              </a:tblPr>
              <a:tblGrid>
                <a:gridCol w="3579875"/>
                <a:gridCol w="2709325"/>
                <a:gridCol w="2709325"/>
              </a:tblGrid>
              <a:tr h="31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r>
                        <a:rPr lang="pl-PL" sz="17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urbine_model</a:t>
                      </a:r>
                      <a:endParaRPr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Producent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Moc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A5E9"/>
                    </a:solidFill>
                  </a:tcPr>
                </a:tc>
              </a:tr>
              <a:tr h="352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Siemens Gamesa SWT-7.0-154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Siemens Gamesa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7.0 MW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1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GE Haliade-X 13 MW 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GE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13.0 MW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1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MHI Vestas V164-8.0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MHI Vestas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8.0 MW 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1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Senvion 6.2M125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Senvion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6.2 MW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3e4b1e92257_31_15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g3e4b1e92257_31_1506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220" name="Google Shape;220;g3e4b1e92257_31_1506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g3e4b1e92257_31_1506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g3e4b1e92257_31_1506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Parsowanie przedziałów wartości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3" name="Google Shape;223;g3e4b1e92257_31_1506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g3e4b1e92257_31_1506"/>
          <p:cNvGrpSpPr/>
          <p:nvPr/>
        </p:nvGrpSpPr>
        <p:grpSpPr>
          <a:xfrm>
            <a:off x="762000" y="2000250"/>
            <a:ext cx="10668150" cy="1905000"/>
            <a:chOff x="762000" y="2000250"/>
            <a:chExt cx="10668150" cy="1905000"/>
          </a:xfrm>
        </p:grpSpPr>
        <p:sp>
          <p:nvSpPr>
            <p:cNvPr id="225" name="Google Shape;225;g3e4b1e92257_31_1506"/>
            <p:cNvSpPr/>
            <p:nvPr/>
          </p:nvSpPr>
          <p:spPr>
            <a:xfrm>
              <a:off x="762000" y="2000250"/>
              <a:ext cx="5048400" cy="19050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g3e4b1e92257_31_1506"/>
            <p:cNvSpPr/>
            <p:nvPr/>
          </p:nvSpPr>
          <p:spPr>
            <a:xfrm>
              <a:off x="6381750" y="2000250"/>
              <a:ext cx="5048400" cy="19050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g3e4b1e92257_31_1506"/>
            <p:cNvSpPr txBox="1"/>
            <p:nvPr/>
          </p:nvSpPr>
          <p:spPr>
            <a:xfrm>
              <a:off x="1047750" y="2321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24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water</a:t>
              </a:r>
              <a:endParaRPr sz="240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8" name="Google Shape;228;g3e4b1e92257_31_1506"/>
            <p:cNvSpPr txBox="1"/>
            <p:nvPr/>
          </p:nvSpPr>
          <p:spPr>
            <a:xfrm>
              <a:off x="1619250" y="2238375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Głębokość wody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Jednostka: metry [m]</a:t>
              </a:r>
              <a:endParaRPr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l-PL">
                  <a:solidFill>
                    <a:srgbClr val="0EA5E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</a:t>
              </a:r>
              <a:r>
                <a:rPr b="1" lang="pl-PL" sz="1400">
                  <a:solidFill>
                    <a:srgbClr val="0EA5E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ater_depth_m</a:t>
              </a:r>
              <a:endParaRPr b="1" sz="1400">
                <a:solidFill>
                  <a:srgbClr val="0EA5E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9" name="Google Shape;229;g3e4b1e92257_31_1506"/>
            <p:cNvSpPr txBox="1"/>
            <p:nvPr/>
          </p:nvSpPr>
          <p:spPr>
            <a:xfrm>
              <a:off x="6667500" y="2321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24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sz="240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0" name="Google Shape;230;g3e4b1e92257_31_1506"/>
            <p:cNvSpPr txBox="1"/>
            <p:nvPr/>
          </p:nvSpPr>
          <p:spPr>
            <a:xfrm>
              <a:off x="7239000" y="2238375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Odległość od brzegu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Jednostka: kilometry [km]</a:t>
              </a:r>
              <a:endParaRPr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l-PL">
                  <a:solidFill>
                    <a:srgbClr val="0EA5E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</a:t>
              </a:r>
              <a:r>
                <a:rPr b="1" lang="pl-PL" sz="1400">
                  <a:solidFill>
                    <a:srgbClr val="0EA5E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istance_from_shore_km</a:t>
              </a:r>
              <a:endParaRPr b="1" sz="1400">
                <a:solidFill>
                  <a:srgbClr val="0EA5E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31" name="Google Shape;231;g3e4b1e92257_31_1506"/>
          <p:cNvGrpSpPr/>
          <p:nvPr/>
        </p:nvGrpSpPr>
        <p:grpSpPr>
          <a:xfrm>
            <a:off x="762000" y="4191000"/>
            <a:ext cx="10668000" cy="1524000"/>
            <a:chOff x="762000" y="4191000"/>
            <a:chExt cx="10668000" cy="1524000"/>
          </a:xfrm>
        </p:grpSpPr>
        <p:sp>
          <p:nvSpPr>
            <p:cNvPr id="232" name="Google Shape;232;g3e4b1e92257_31_1506"/>
            <p:cNvSpPr/>
            <p:nvPr/>
          </p:nvSpPr>
          <p:spPr>
            <a:xfrm>
              <a:off x="762000" y="4191000"/>
              <a:ext cx="10668000" cy="10221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g3e4b1e92257_31_1506"/>
            <p:cNvSpPr/>
            <p:nvPr/>
          </p:nvSpPr>
          <p:spPr>
            <a:xfrm>
              <a:off x="762000" y="4191000"/>
              <a:ext cx="10668000" cy="476400"/>
            </a:xfrm>
            <a:prstGeom prst="roundRect">
              <a:avLst>
                <a:gd fmla="val 24000" name="adj"/>
              </a:avLst>
            </a:prstGeom>
            <a:solidFill>
              <a:srgbClr val="0EA5E9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g3e4b1e92257_31_1506"/>
            <p:cNvSpPr txBox="1"/>
            <p:nvPr/>
          </p:nvSpPr>
          <p:spPr>
            <a:xfrm>
              <a:off x="1143000" y="4191000"/>
              <a:ext cx="9906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Przykład parsowania (</a:t>
              </a:r>
              <a:r>
                <a:rPr b="1" lang="pl-PL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wartość wejściowa</a:t>
              </a:r>
              <a:r>
                <a:rPr b="1" lang="pl-PL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→ Min / Max / Mean)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5" name="Google Shape;235;g3e4b1e92257_31_1506"/>
            <p:cNvSpPr txBox="1"/>
            <p:nvPr/>
          </p:nvSpPr>
          <p:spPr>
            <a:xfrm>
              <a:off x="1143000" y="4762500"/>
              <a:ext cx="990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4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"20-40"</a:t>
              </a:r>
              <a:r>
                <a:rPr lang="pl-PL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→Min: 20 Max: 40 Mean: 30</a:t>
              </a:r>
              <a:endParaRPr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i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11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241" name="Google Shape;241;p11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11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Parsowanie budżetu</a:t>
            </a:r>
            <a:endParaRPr b="1" i="0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 txBox="1"/>
          <p:nvPr>
            <p:ph idx="1" type="body"/>
          </p:nvPr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1000" lIns="381000" spcFirstLastPara="1" rIns="381000" wrap="square" tIns="3810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1. Wykrywanie waluty: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skanowanie pod kątem EUR, GBP, USD, NOK, DKK, SEK, PLN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2. Wykrywanie skali: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słowa kluczowe „billion” (miliard) / „million” (milion)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3. Ekstrakcja liczb: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wyrażenia regularne (regex), wyliczanie średniej ze znalezionych wartości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4. Konwersja na EUR: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API </a:t>
            </a:r>
            <a:r>
              <a:rPr lang="pl-PL" sz="16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forex_python 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(historyczne kursy według roku zlecenia)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5. Tryb awaryjny (Fallback):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statyczna tabela kursów wymiany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E293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Przykład:</a:t>
            </a:r>
            <a:endParaRPr b="1" sz="1600">
              <a:solidFill>
                <a:srgbClr val="1E293B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rPr>
              <a:t>„GBP 4.2 billion” (2020) → 4.2 × 10⁹ × kurs(GBP→EUR, 2020)</a:t>
            </a:r>
            <a:endParaRPr b="1" sz="1600">
              <a:solidFill>
                <a:srgbClr val="0EA5E9"/>
              </a:solidFill>
              <a:highlight>
                <a:srgbClr val="F8FA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12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252" name="Google Shape;252;p12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12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Indeksacja kosztów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 txBox="1"/>
          <p:nvPr>
            <p:ph idx="1" type="body"/>
          </p:nvPr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1000" lIns="381000" spcFirstLastPara="1" rIns="381000" wrap="square" tIns="3810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1. Indeksacja inflacji: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wskaźnik World Bank CPI API (</a:t>
            </a:r>
            <a:r>
              <a:rPr lang="pl-PL" sz="16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wbgapi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do roku 2024</a:t>
            </a:r>
            <a:endParaRPr b="1" sz="16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2. Wskaźnik: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FP.CPI.TOTL</a:t>
            </a:r>
            <a:endParaRPr b="1" sz="16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3. Zakres geograficzny: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kody ISO dla poszczególnych krajów (15 krajów UE)</a:t>
            </a:r>
            <a:endParaRPr b="1" sz="16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4. Formuła obliczeniowa:</a:t>
            </a:r>
            <a:r>
              <a:rPr b="1" lang="pl-PL" sz="1600">
                <a:solidFill>
                  <a:srgbClr val="0EA5E9"/>
                </a:solidFill>
                <a:latin typeface="Courier New"/>
                <a:ea typeface="Courier New"/>
                <a:cs typeface="Courier New"/>
                <a:sym typeface="Courier New"/>
              </a:rPr>
              <a:t> Budżet_indeksowany = (Budżet × CPI_2024) / CPI_rok</a:t>
            </a:r>
            <a:endParaRPr b="1" sz="16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5. Dane historyczne: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brak korekty dla danych z ostatnich 5 lat </a:t>
            </a:r>
            <a:endParaRPr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6. Tryb awaryjny (Fallback):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stała roczna inflacja na poziomie 2%</a:t>
            </a:r>
            <a:endParaRPr b="1" sz="16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E293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Przykład przeliczenia:</a:t>
            </a:r>
            <a:endParaRPr b="1" sz="1600">
              <a:solidFill>
                <a:srgbClr val="1E293B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rPr>
              <a:t>CPI_2024 / CPI_2018 → współczynnik korygujący wartość pieniądza w czasie</a:t>
            </a:r>
            <a:endParaRPr b="1" sz="1600">
              <a:solidFill>
                <a:srgbClr val="0EA5E9"/>
              </a:solidFill>
              <a:highlight>
                <a:srgbClr val="F8FA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3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262" name="Google Shape;262;p13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13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Parametry środowiskowe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 txBox="1"/>
          <p:nvPr>
            <p:ph idx="1" type="body"/>
          </p:nvPr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1000" lIns="381000" spcFirstLastPara="1" rIns="381000" wrap="square" tIns="3810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1. Falowanie:</a:t>
            </a:r>
            <a:endParaRPr b="1" sz="16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125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Global Wind Atlas (biblioteka </a:t>
            </a:r>
            <a:r>
              <a:rPr b="1" lang="pl-PL" sz="1600">
                <a:solidFill>
                  <a:srgbClr val="0EA5E9"/>
                </a:solidFill>
                <a:latin typeface="Courier New"/>
                <a:ea typeface="Courier New"/>
                <a:cs typeface="Courier New"/>
                <a:sym typeface="Courier New"/>
              </a:rPr>
              <a:t>wind_stats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Parametry Weibulla (A, k) na wysokości piasty 140 m, szorstkość 0,03 m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Średnia ważona sektorowo 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2. Wietrzność:</a:t>
            </a:r>
            <a:endParaRPr b="1" sz="16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125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Open-Meteo Marine API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Pełny rok godzinowych danych </a:t>
            </a:r>
            <a:r>
              <a:rPr lang="pl-PL" sz="16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wave_height </a:t>
            </a: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 lokalizację farmy i rok oddania do użytku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Tryb awaryjny (Fallback): aktualne warunki stanu morza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1125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3. Głębokość wód</a:t>
            </a:r>
            <a:endParaRPr b="1" sz="16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7" name="Google Shape;26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2125" y="3077075"/>
            <a:ext cx="1884025" cy="3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4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273" name="Google Shape;273;p14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14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Analiza położenia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7" name="Google Shape;277;p14"/>
          <p:cNvSpPr txBox="1"/>
          <p:nvPr>
            <p:ph idx="1" type="body"/>
          </p:nvPr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1000" lIns="381000" spcFirstLastPara="1" rIns="381000" wrap="square" tIns="3810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1. Odległość od portu operacyjnego: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0000" lvl="0" marL="180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Pliki shapefile portów EMODnet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0000" lvl="0" marL="180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GeoPandas z odwzorowaniem EPSG:3035 (ETRS89-LAEA)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0000" lvl="0" marL="180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Minimalna odległość euklidesowa do najbliższego portu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2. Odległość od portu instalacyjnego (29 portów europejskich):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Esbjerg, Cuxhaven, Bremerhaven, Rotterdam, Hull, Belfast, Gdańsk, ...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Ten sam algorytm odległości rzutowanej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3. Odległość od brzegu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15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283" name="Google Shape;283;p15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p15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Modele kosztów przyłączenia 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7" name="Google Shape;287;p15"/>
          <p:cNvSpPr txBox="1"/>
          <p:nvPr>
            <p:ph idx="1" type="body"/>
          </p:nvPr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1000" lIns="381000" spcFirstLastPara="1" rIns="381000" wrap="square" tIns="381000">
            <a:norm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•"/>
            </a:pPr>
            <a:r>
              <a:rPr b="1" lang="pl-PL" sz="1800">
                <a:latin typeface="Inter"/>
                <a:ea typeface="Inter"/>
                <a:cs typeface="Inter"/>
                <a:sym typeface="Inter"/>
              </a:rPr>
              <a:t>Model dewelopersk</a:t>
            </a:r>
            <a:r>
              <a:rPr lang="pl-PL" sz="1800">
                <a:latin typeface="Inter"/>
                <a:ea typeface="Inter"/>
                <a:cs typeface="Inter"/>
                <a:sym typeface="Inter"/>
              </a:rPr>
              <a:t>i, gdzie koszty kabli exportowych, morskich stacji (OSS) i przyłącza ponosi inwestor (czasem z późniejszą rekompensatą)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•"/>
            </a:pPr>
            <a:r>
              <a:rPr b="1" lang="pl-PL" sz="1800">
                <a:latin typeface="Inter"/>
                <a:ea typeface="Inter"/>
                <a:cs typeface="Inter"/>
                <a:sym typeface="Inter"/>
              </a:rPr>
              <a:t>Model TSO</a:t>
            </a:r>
            <a:r>
              <a:rPr lang="pl-PL" sz="1800">
                <a:latin typeface="Inter"/>
                <a:ea typeface="Inter"/>
                <a:cs typeface="Inter"/>
                <a:sym typeface="Inter"/>
              </a:rPr>
              <a:t>, w którym za budowę i finansowanie przyłączenia odpowiada państwowy operator systemu przesyłowego (TSO), a koszty są socializowane w taryfach. 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kreślane na podstawie kraju i roku oddania do użytku:</a:t>
            </a:r>
            <a:endParaRPr b="1" sz="18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750"/>
              </a:spcAft>
              <a:buNone/>
            </a:pPr>
            <a:r>
              <a:t/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88" name="Google Shape;288;p15"/>
          <p:cNvGraphicFramePr/>
          <p:nvPr/>
        </p:nvGraphicFramePr>
        <p:xfrm>
          <a:off x="952500" y="431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{291E1E08-F8E3-4FC8-A94F-52DA3FBF5E90}</a:tableStyleId>
              </a:tblPr>
              <a:tblGrid>
                <a:gridCol w="894625"/>
                <a:gridCol w="786125"/>
                <a:gridCol w="1979725"/>
                <a:gridCol w="2401775"/>
                <a:gridCol w="2317350"/>
                <a:gridCol w="190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Kraj</a:t>
                      </a:r>
                      <a:endParaRPr b="1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Rok</a:t>
                      </a:r>
                      <a:endParaRPr b="1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OSS</a:t>
                      </a:r>
                      <a:endParaRPr b="1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Kabel Offshore</a:t>
                      </a:r>
                      <a:endParaRPr b="1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Przyłącze onshore</a:t>
                      </a:r>
                      <a:endParaRPr b="1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 b="1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0EA5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UK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2010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Developer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Developer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Developer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Developer-led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Sweden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2022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TSO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TSO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TSO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>
                          <a:latin typeface="Inter"/>
                          <a:ea typeface="Inter"/>
                          <a:cs typeface="Inter"/>
                          <a:sym typeface="Inter"/>
                        </a:rPr>
                        <a:t>TSO-led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16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294" name="Google Shape;294;p16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16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Ostateczne transformacje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1000" lIns="381000" spcFirstLastPara="1" rIns="381000" wrap="square" tIns="3810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Filtrowanie</a:t>
            </a: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 rekordów:</a:t>
            </a:r>
            <a:endParaRPr b="1" sz="18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125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Inter"/>
              <a:buChar char="●"/>
            </a:pPr>
            <a:r>
              <a:rPr b="0"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Wiersze z brakującymi danymi w kolumnach </a:t>
            </a:r>
            <a:r>
              <a:rPr lang="pl-PL" sz="1800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installed_capacity_MW</a:t>
            </a:r>
            <a:r>
              <a:rPr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 </a:t>
            </a:r>
            <a:r>
              <a:rPr lang="pl-PL" sz="1800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total_project_budget </a:t>
            </a:r>
            <a:r>
              <a:rPr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są usuwane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Inter"/>
              <a:buChar char="●"/>
            </a:pPr>
            <a:r>
              <a:rPr b="0"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Redukcja: 182 -&gt; 170 rekordów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Kodowanie One-hot dla 7 kolumn kategorycznych:</a:t>
            </a:r>
            <a:endParaRPr b="1" sz="18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125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nsolas"/>
              <a:buChar char="●"/>
            </a:pPr>
            <a:r>
              <a:rPr lang="pl-PL" sz="1800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country, </a:t>
            </a:r>
            <a:endParaRPr sz="1800">
              <a:solidFill>
                <a:srgbClr val="3341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nsolas"/>
              <a:buChar char="●"/>
            </a:pPr>
            <a:r>
              <a:rPr lang="pl-PL" sz="1800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turbine_producer, </a:t>
            </a:r>
            <a:endParaRPr sz="1800">
              <a:solidFill>
                <a:srgbClr val="3341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nsolas"/>
              <a:buChar char="●"/>
            </a:pPr>
            <a:r>
              <a:rPr lang="pl-PL" sz="1800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foundation_type, </a:t>
            </a:r>
            <a:endParaRPr sz="1800">
              <a:solidFill>
                <a:srgbClr val="3341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nsolas"/>
              <a:buChar char="●"/>
            </a:pPr>
            <a:r>
              <a:rPr lang="pl-PL" sz="1800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oss_responsibility, </a:t>
            </a:r>
            <a:endParaRPr sz="1800">
              <a:solidFill>
                <a:srgbClr val="3341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nsolas"/>
              <a:buChar char="●"/>
            </a:pPr>
            <a:r>
              <a:rPr lang="pl-PL" sz="1800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offshore_cable, </a:t>
            </a:r>
            <a:endParaRPr sz="1800">
              <a:solidFill>
                <a:srgbClr val="3341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nsolas"/>
              <a:buChar char="●"/>
            </a:pPr>
            <a:r>
              <a:rPr lang="pl-PL" sz="1800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onshore_connection, </a:t>
            </a:r>
            <a:endParaRPr sz="1800">
              <a:solidFill>
                <a:srgbClr val="3341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750"/>
              </a:spcAft>
              <a:buClr>
                <a:srgbClr val="334155"/>
              </a:buClr>
              <a:buSzPts val="1800"/>
              <a:buFont typeface="Consolas"/>
              <a:buChar char="●"/>
            </a:pPr>
            <a:r>
              <a:rPr lang="pl-PL" sz="1800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model_type</a:t>
            </a:r>
            <a:endParaRPr sz="1800">
              <a:solidFill>
                <a:srgbClr val="3341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4b1e92257_31_702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95250" lIns="95250" spcFirstLastPara="1" rIns="95250" wrap="square" tIns="952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Wskaźniki Opłacalności</a:t>
            </a:r>
            <a:endParaRPr b="1" sz="120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4" name="Google Shape;304;g3e4b1e92257_31_7021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5" name="Google Shape;305;g3e4b1e92257_31_7021"/>
          <p:cNvGrpSpPr/>
          <p:nvPr/>
        </p:nvGrpSpPr>
        <p:grpSpPr>
          <a:xfrm>
            <a:off x="363053" y="738431"/>
            <a:ext cx="11733697" cy="5643319"/>
            <a:chOff x="363053" y="738431"/>
            <a:chExt cx="11733697" cy="5643319"/>
          </a:xfrm>
        </p:grpSpPr>
        <p:sp>
          <p:nvSpPr>
            <p:cNvPr id="306" name="Google Shape;306;g3e4b1e92257_31_7021"/>
            <p:cNvSpPr/>
            <p:nvPr/>
          </p:nvSpPr>
          <p:spPr>
            <a:xfrm rot="900209">
              <a:off x="9524908" y="952557"/>
              <a:ext cx="1905146" cy="1905146"/>
            </a:xfrm>
            <a:prstGeom prst="roundRect">
              <a:avLst>
                <a:gd fmla="val 10000" name="adj"/>
              </a:avLst>
            </a:prstGeom>
            <a:solidFill>
              <a:srgbClr val="0EA5E9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g3e4b1e92257_31_7021"/>
            <p:cNvSpPr/>
            <p:nvPr/>
          </p:nvSpPr>
          <p:spPr>
            <a:xfrm>
              <a:off x="9810750" y="4095750"/>
              <a:ext cx="2286000" cy="2286000"/>
            </a:xfrm>
            <a:prstGeom prst="ellipse">
              <a:avLst/>
            </a:prstGeom>
            <a:solidFill>
              <a:srgbClr val="0EA5E9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g3e4b1e92257_31_7021"/>
            <p:cNvSpPr/>
            <p:nvPr/>
          </p:nvSpPr>
          <p:spPr>
            <a:xfrm rot="-599893">
              <a:off x="476252" y="4762502"/>
              <a:ext cx="1429002" cy="1429002"/>
            </a:xfrm>
            <a:prstGeom prst="roundRect">
              <a:avLst>
                <a:gd fmla="val 50000" name="adj"/>
              </a:avLst>
            </a:prstGeom>
            <a:solidFill>
              <a:srgbClr val="0EA5E9">
                <a:alpha val="4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g3e4b1e92257_31_7021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e4b1e92257_31_7021"/>
          <p:cNvSpPr/>
          <p:nvPr/>
        </p:nvSpPr>
        <p:spPr>
          <a:xfrm>
            <a:off x="970225" y="4347650"/>
            <a:ext cx="664800" cy="57300"/>
          </a:xfrm>
          <a:prstGeom prst="roundRect">
            <a:avLst>
              <a:gd fmla="val 4986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18"/>
          <p:cNvGrpSpPr/>
          <p:nvPr/>
        </p:nvGrpSpPr>
        <p:grpSpPr>
          <a:xfrm>
            <a:off x="0" y="0"/>
            <a:ext cx="12192000" cy="133350"/>
            <a:chOff x="0" y="0"/>
            <a:chExt cx="12192000" cy="133350"/>
          </a:xfrm>
        </p:grpSpPr>
        <p:sp>
          <p:nvSpPr>
            <p:cNvPr id="316" name="Google Shape;316;p18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18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86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CAPEX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0" name="Google Shape;320;p18"/>
          <p:cNvSpPr txBox="1"/>
          <p:nvPr>
            <p:ph idx="1" type="body"/>
          </p:nvPr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1000" lIns="381000" spcFirstLastPara="1" rIns="381000" wrap="square" tIns="3810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Inter"/>
              <a:buChar char="●"/>
            </a:pPr>
            <a:r>
              <a:rPr b="1"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CAPEX [EUR/MW]:</a:t>
            </a:r>
            <a:r>
              <a:rPr b="0"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Całkowite nakłady inwestycyjne do uruchomienia projektu, przeliczone na 1 MW mocy zainstalowanej. Umożliwia szybkie porównanie skali i kapitałochłonności projektów.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875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Inter"/>
              <a:buChar char="●"/>
            </a:pPr>
            <a:r>
              <a:rPr b="1"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Wzór:</a:t>
            </a:r>
            <a:br>
              <a:rPr b="0" lang="pl-PL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pl-PL" sz="2200">
                <a:solidFill>
                  <a:srgbClr val="0369A1"/>
                </a:solidFill>
                <a:highlight>
                  <a:srgbClr val="F0F9FF"/>
                </a:highlight>
                <a:latin typeface="Courier New"/>
                <a:ea typeface="Courier New"/>
                <a:cs typeface="Courier New"/>
                <a:sym typeface="Courier New"/>
              </a:rPr>
              <a:t>CAPEX jednostkowy = Budżet całkowity / Moc zainstalowana</a:t>
            </a:r>
            <a:endParaRPr b="0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0" i="1" lang="pl-PL" sz="2400">
                <a:solidFill>
                  <a:srgbClr val="0EA5E9"/>
                </a:solidFill>
                <a:highlight>
                  <a:srgbClr val="F8FAFC"/>
                </a:highlight>
                <a:latin typeface="Material Icons"/>
                <a:ea typeface="Material Icons"/>
                <a:cs typeface="Material Icons"/>
                <a:sym typeface="Material Icons"/>
              </a:rPr>
              <a:t>analytics</a:t>
            </a:r>
            <a:r>
              <a:rPr b="0" i="1" lang="pl-PL" sz="1800">
                <a:solidFill>
                  <a:srgbClr val="64748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 Wartość ta będzie przedmiotem predykcji w modelu.</a:t>
            </a:r>
            <a:endParaRPr b="0" i="1" sz="1800">
              <a:solidFill>
                <a:srgbClr val="64748B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9"/>
          <p:cNvGrpSpPr/>
          <p:nvPr/>
        </p:nvGrpSpPr>
        <p:grpSpPr>
          <a:xfrm>
            <a:off x="0" y="0"/>
            <a:ext cx="12192000" cy="1524000"/>
            <a:chOff x="0" y="0"/>
            <a:chExt cx="12192000" cy="1524000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12192000" cy="954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0" y="95250"/>
              <a:ext cx="12192000" cy="38100"/>
            </a:xfrm>
            <a:prstGeom prst="rect">
              <a:avLst/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762000" y="1285875"/>
              <a:ext cx="571500" cy="57300"/>
            </a:xfrm>
            <a:prstGeom prst="roundRect">
              <a:avLst>
                <a:gd fmla="val 49869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9"/>
            <p:cNvSpPr txBox="1"/>
            <p:nvPr/>
          </p:nvSpPr>
          <p:spPr>
            <a:xfrm>
              <a:off x="762000" y="381000"/>
              <a:ext cx="1066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4800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Roczny koszt kapitału</a:t>
              </a:r>
              <a:endParaRPr b="1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330" name="Google Shape;330;p19"/>
          <p:cNvGrpSpPr/>
          <p:nvPr/>
        </p:nvGrpSpPr>
        <p:grpSpPr>
          <a:xfrm>
            <a:off x="762000" y="1714500"/>
            <a:ext cx="10668000" cy="4695900"/>
            <a:chOff x="762000" y="1714500"/>
            <a:chExt cx="10668000" cy="4695900"/>
          </a:xfrm>
        </p:grpSpPr>
        <p:sp>
          <p:nvSpPr>
            <p:cNvPr id="331" name="Google Shape;331;p19"/>
            <p:cNvSpPr/>
            <p:nvPr/>
          </p:nvSpPr>
          <p:spPr>
            <a:xfrm>
              <a:off x="762000" y="1714500"/>
              <a:ext cx="10668000" cy="4695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9"/>
            <p:cNvSpPr txBox="1"/>
            <p:nvPr/>
          </p:nvSpPr>
          <p:spPr>
            <a:xfrm>
              <a:off x="762000" y="1714500"/>
              <a:ext cx="10668000" cy="46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Współczynnik odzyskania kapitału (CRF)</a:t>
              </a:r>
              <a:endParaRPr b="1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l-PL" sz="2800">
                  <a:solidFill>
                    <a:srgbClr val="0369A1"/>
                  </a:solidFill>
                  <a:highlight>
                    <a:srgbClr val="F0F9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CRF = r / [1 - (1 + r)^(-n)]</a:t>
              </a:r>
              <a:endParaRPr sz="2800">
                <a:solidFill>
                  <a:srgbClr val="0369A1"/>
                </a:solidFill>
                <a:highlight>
                  <a:srgbClr val="F0F9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pl-PL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Gdzie </a:t>
              </a:r>
              <a:r>
                <a:rPr b="1" lang="pl-PL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</a:t>
              </a:r>
              <a:r>
                <a:rPr lang="pl-PL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oznacza stopę dyskontową, a </a:t>
              </a:r>
              <a:r>
                <a:rPr b="1" lang="pl-PL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</a:t>
              </a:r>
              <a:r>
                <a:rPr lang="pl-PL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to liczba lat życia projektu.</a:t>
              </a:r>
              <a:endParaRPr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pl-PL" sz="1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Obliczenie rocznego CAPEX</a:t>
              </a:r>
              <a:endParaRPr b="1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l-PL" sz="2200">
                  <a:solidFill>
                    <a:srgbClr val="1E293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CAPEX roczny = CAPEX całkowity * CRF [EUR/rok]</a:t>
              </a:r>
              <a:endParaRPr sz="2200">
                <a:solidFill>
                  <a:srgbClr val="1E293B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i="1" lang="pl-PL" sz="1800">
                  <a:solidFill>
                    <a:srgbClr val="64748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 </a:t>
              </a:r>
              <a:r>
                <a:rPr i="1" lang="pl-PL" sz="14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CAPEX całkowity odpowiada całkowitemu budżetowi projektu.</a:t>
              </a:r>
              <a:endParaRPr i="1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4b1e92257_31_3202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4b1e92257_31_3202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e4b1e92257_31_3202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86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g3e4b1e92257_31_3202"/>
          <p:cNvGrpSpPr/>
          <p:nvPr/>
        </p:nvGrpSpPr>
        <p:grpSpPr>
          <a:xfrm>
            <a:off x="762000" y="381000"/>
            <a:ext cx="10668000" cy="1143000"/>
            <a:chOff x="762000" y="381000"/>
            <a:chExt cx="10668000" cy="1143000"/>
          </a:xfrm>
        </p:grpSpPr>
        <p:sp>
          <p:nvSpPr>
            <p:cNvPr id="341" name="Google Shape;341;g3e4b1e92257_31_3202"/>
            <p:cNvSpPr/>
            <p:nvPr/>
          </p:nvSpPr>
          <p:spPr>
            <a:xfrm>
              <a:off x="762000" y="381000"/>
              <a:ext cx="10668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g3e4b1e92257_31_3202"/>
            <p:cNvSpPr txBox="1"/>
            <p:nvPr/>
          </p:nvSpPr>
          <p:spPr>
            <a:xfrm>
              <a:off x="762000" y="381000"/>
              <a:ext cx="1066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4800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OPEX</a:t>
              </a:r>
              <a:endParaRPr b="1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343" name="Google Shape;343;g3e4b1e92257_31_3202"/>
          <p:cNvGrpSpPr/>
          <p:nvPr/>
        </p:nvGrpSpPr>
        <p:grpSpPr>
          <a:xfrm>
            <a:off x="762000" y="1714500"/>
            <a:ext cx="10668000" cy="4695900"/>
            <a:chOff x="762000" y="1714500"/>
            <a:chExt cx="10668000" cy="4695900"/>
          </a:xfrm>
        </p:grpSpPr>
        <p:sp>
          <p:nvSpPr>
            <p:cNvPr id="344" name="Google Shape;344;g3e4b1e92257_31_3202"/>
            <p:cNvSpPr/>
            <p:nvPr/>
          </p:nvSpPr>
          <p:spPr>
            <a:xfrm>
              <a:off x="762000" y="1714500"/>
              <a:ext cx="10668000" cy="4695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g3e4b1e92257_31_3202"/>
            <p:cNvSpPr txBox="1"/>
            <p:nvPr/>
          </p:nvSpPr>
          <p:spPr>
            <a:xfrm>
              <a:off x="762000" y="1714500"/>
              <a:ext cx="10668000" cy="469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395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Definicja OPEX</a:t>
              </a:r>
              <a:endParaRPr b="1" sz="1395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OPEX [EUR/MW] Roczne koszty operacyjne przypadające na 1 MW mocy zainstalowanej. Pokazuje długoterminową efektywność utrzymania projektu.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pl-PL" sz="1395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Model oparty na odległości od portu</a:t>
              </a:r>
              <a:endParaRPr b="1" sz="1395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34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40"/>
                <a:buFont typeface="Inter"/>
                <a:buChar char="●"/>
              </a:pPr>
              <a:r>
                <a:rPr b="0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Wskaźnik bazowy: </a:t>
              </a:r>
              <a:r>
                <a:rPr b="1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65 kEUR/MW/rok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34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240"/>
                <a:buFont typeface="Inter"/>
                <a:buChar char="●"/>
              </a:pPr>
              <a:r>
                <a:rPr b="0" lang="pl-PL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Korekta odległościowa: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340" lvl="0" marL="9144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40"/>
                <a:buFont typeface="Inter"/>
                <a:buChar char="➔"/>
              </a:pPr>
              <a:r>
                <a:rPr b="0" lang="pl-PL" sz="124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&lt;= 50 km: </a:t>
              </a:r>
              <a:r>
                <a:rPr b="1" lang="pl-PL" sz="124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+ 5</a:t>
              </a:r>
              <a:endParaRPr b="0" sz="124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340" lvl="0" marL="9144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240"/>
                <a:buFont typeface="Inter"/>
                <a:buChar char="➔"/>
              </a:pPr>
              <a:r>
                <a:rPr b="0" lang="pl-PL" sz="124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50 – 100 km: </a:t>
              </a:r>
              <a:r>
                <a:rPr b="1" lang="pl-PL" sz="124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+ 15</a:t>
              </a:r>
              <a:endParaRPr b="0" sz="124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340" lvl="0" marL="9144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240"/>
                <a:buFont typeface="Inter"/>
                <a:buChar char="➔"/>
              </a:pPr>
              <a:r>
                <a:rPr b="0" lang="pl-PL" sz="124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&gt; 100 km: </a:t>
              </a:r>
              <a:r>
                <a:rPr b="1" lang="pl-PL" sz="124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+ 25</a:t>
              </a:r>
              <a:endParaRPr b="0" sz="124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pl-PL" sz="1395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Obliczenie rocznego OPEX</a:t>
              </a:r>
              <a:endParaRPr b="1" sz="1395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l-PL" sz="1860">
                  <a:solidFill>
                    <a:srgbClr val="0369A1"/>
                  </a:solidFill>
                  <a:highlight>
                    <a:srgbClr val="F0F9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OPEX roczny = OPEX * moc zainstalowana [kEUR/rok]</a:t>
              </a:r>
              <a:endParaRPr b="1" sz="1395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pl-PL" sz="1395">
                  <a:solidFill>
                    <a:srgbClr val="64748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 </a:t>
              </a:r>
              <a:r>
                <a:rPr b="0" i="1" lang="pl-PL" sz="108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Koszty operacyjne są kluczowym czynnikiem rentowności w fazie eksploatacji.</a:t>
              </a:r>
              <a:endParaRPr b="1" sz="1395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4b1e92257_31_3545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e4b1e92257_31_3545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e4b1e92257_31_3545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e4b1e92257_31_3545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Produkcja energii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4" name="Google Shape;354;g3e4b1e92257_31_3545"/>
          <p:cNvSpPr/>
          <p:nvPr/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5" name="Google Shape;355;g3e4b1e92257_31_3545"/>
          <p:cNvGrpSpPr/>
          <p:nvPr/>
        </p:nvGrpSpPr>
        <p:grpSpPr>
          <a:xfrm>
            <a:off x="1143000" y="2095500"/>
            <a:ext cx="9906000" cy="952500"/>
            <a:chOff x="1143000" y="2095500"/>
            <a:chExt cx="9906000" cy="952500"/>
          </a:xfrm>
        </p:grpSpPr>
        <p:sp>
          <p:nvSpPr>
            <p:cNvPr id="356" name="Google Shape;356;g3e4b1e92257_31_3545"/>
            <p:cNvSpPr/>
            <p:nvPr/>
          </p:nvSpPr>
          <p:spPr>
            <a:xfrm>
              <a:off x="1143000" y="2095500"/>
              <a:ext cx="9906000" cy="381000"/>
            </a:xfrm>
            <a:prstGeom prst="roundRect">
              <a:avLst>
                <a:gd fmla="val 1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g3e4b1e92257_31_3545"/>
            <p:cNvSpPr txBox="1"/>
            <p:nvPr/>
          </p:nvSpPr>
          <p:spPr>
            <a:xfrm>
              <a:off x="1143000" y="2095500"/>
              <a:ext cx="990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Parametry wejściowe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l-PL" sz="13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Prędkość wiatru [m/s]	                                     	</a:t>
              </a:r>
              <a:r>
                <a:rPr b="1" lang="pl-PL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8.5		9.0		9.5		10.0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-PL" sz="13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Współczynnik wykorzy</a:t>
              </a:r>
              <a:r>
                <a:rPr lang="pl-PL" sz="13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stania </a:t>
              </a:r>
              <a:r>
                <a:rPr b="0" lang="pl-PL" sz="13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mocy CF	           </a:t>
              </a:r>
              <a:r>
                <a:rPr b="1" lang="pl-PL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0.45		0.50		0.55		0.59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58" name="Google Shape;358;g3e4b1e92257_31_3545"/>
          <p:cNvSpPr txBox="1"/>
          <p:nvPr/>
        </p:nvSpPr>
        <p:spPr>
          <a:xfrm>
            <a:off x="1143000" y="3619500"/>
            <a:ext cx="9906000" cy="138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3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pl-PL" sz="1203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roduktywność brutto = liczba godzin w roku (8760) * CF [MWh/MW/rok]</a:t>
            </a:r>
            <a:endParaRPr b="1" sz="1203">
              <a:solidFill>
                <a:srgbClr val="0EA5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1203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pl-PL" sz="1203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roduktywność netto = produktywność brutto * [1 – współczynnik straty (0.15)]</a:t>
            </a:r>
            <a:endParaRPr b="1" sz="1203">
              <a:solidFill>
                <a:srgbClr val="0EA5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1203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pl-PL" sz="1203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oczna produkcja energii = produktywność netto * moc zainstalowana [MWh]</a:t>
            </a:r>
            <a:endParaRPr b="1" sz="1203">
              <a:solidFill>
                <a:srgbClr val="0EA5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2500"/>
              </a:spcBef>
              <a:spcAft>
                <a:spcPts val="0"/>
              </a:spcAft>
              <a:buNone/>
            </a:pPr>
            <a:r>
              <a:rPr b="0" lang="pl-PL" sz="1665">
                <a:solidFill>
                  <a:srgbClr val="0369A1"/>
                </a:solidFill>
                <a:highlight>
                  <a:srgbClr val="F0F9FF"/>
                </a:highlight>
                <a:latin typeface="Courier New"/>
                <a:ea typeface="Courier New"/>
                <a:cs typeface="Courier New"/>
                <a:sym typeface="Courier New"/>
              </a:rPr>
              <a:t>Produkcja roczna = Produktywność netto * </a:t>
            </a:r>
            <a:r>
              <a:rPr lang="pl-PL" sz="1665">
                <a:solidFill>
                  <a:srgbClr val="0369A1"/>
                </a:solidFill>
                <a:highlight>
                  <a:srgbClr val="F0F9FF"/>
                </a:highlight>
                <a:latin typeface="Courier New"/>
                <a:ea typeface="Courier New"/>
                <a:cs typeface="Courier New"/>
                <a:sym typeface="Courier New"/>
              </a:rPr>
              <a:t>moc zainstalowana [MWh]</a:t>
            </a:r>
            <a:endParaRPr b="1" sz="1203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2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LCOE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2"/>
          <p:cNvSpPr txBox="1"/>
          <p:nvPr>
            <p:ph idx="1" type="body"/>
          </p:nvPr>
        </p:nvSpPr>
        <p:spPr>
          <a:xfrm>
            <a:off x="1143000" y="2095500"/>
            <a:ext cx="99060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5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Definicja</a:t>
            </a:r>
            <a:endParaRPr b="1" sz="15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pl-PL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LCOE (Levelized Cost of Energy) to średni koszt wytworzenia 1 MWh energii w całym cyklu życia projektu, uwzględniający CAPEX, OPEX, produkcję energii, czas życia i koszt kapitału.</a:t>
            </a:r>
            <a:endParaRPr b="0" sz="16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5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Formuła obliczeniowa</a:t>
            </a:r>
            <a:endParaRPr b="1" sz="15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1900">
                <a:solidFill>
                  <a:srgbClr val="0369A1"/>
                </a:solidFill>
                <a:highlight>
                  <a:srgbClr val="F0F9FF"/>
                </a:highlight>
                <a:latin typeface="Courier New"/>
                <a:ea typeface="Courier New"/>
                <a:cs typeface="Courier New"/>
                <a:sym typeface="Courier New"/>
              </a:rPr>
              <a:t>LCOE = (CAPEX roczny + OPEX roczny) / Produkcja roczna [EUR/MWh]</a:t>
            </a:r>
            <a:endParaRPr b="1" sz="1900">
              <a:solidFill>
                <a:srgbClr val="0369A1"/>
              </a:solidFill>
              <a:highlight>
                <a:srgbClr val="F0F9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t/>
            </a:r>
            <a:endParaRPr sz="1295">
              <a:solidFill>
                <a:srgbClr val="64748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4b1e92257_31_6999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Predykcja</a:t>
            </a:r>
            <a:endParaRPr b="1" sz="120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4" name="Google Shape;374;g3e4b1e92257_31_6999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5" name="Google Shape;375;g3e4b1e92257_31_6999"/>
          <p:cNvGrpSpPr/>
          <p:nvPr/>
        </p:nvGrpSpPr>
        <p:grpSpPr>
          <a:xfrm>
            <a:off x="363053" y="738431"/>
            <a:ext cx="11733697" cy="5643319"/>
            <a:chOff x="363053" y="738431"/>
            <a:chExt cx="11733697" cy="5643319"/>
          </a:xfrm>
        </p:grpSpPr>
        <p:sp>
          <p:nvSpPr>
            <p:cNvPr id="376" name="Google Shape;376;g3e4b1e92257_31_6999"/>
            <p:cNvSpPr/>
            <p:nvPr/>
          </p:nvSpPr>
          <p:spPr>
            <a:xfrm rot="900209">
              <a:off x="9524908" y="952557"/>
              <a:ext cx="1905146" cy="1905146"/>
            </a:xfrm>
            <a:prstGeom prst="roundRect">
              <a:avLst>
                <a:gd fmla="val 10000" name="adj"/>
              </a:avLst>
            </a:prstGeom>
            <a:solidFill>
              <a:srgbClr val="0EA5E9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g3e4b1e92257_31_6999"/>
            <p:cNvSpPr/>
            <p:nvPr/>
          </p:nvSpPr>
          <p:spPr>
            <a:xfrm>
              <a:off x="9810750" y="4095750"/>
              <a:ext cx="2286000" cy="2286000"/>
            </a:xfrm>
            <a:prstGeom prst="ellipse">
              <a:avLst/>
            </a:prstGeom>
            <a:solidFill>
              <a:srgbClr val="0EA5E9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g3e4b1e92257_31_6999"/>
            <p:cNvSpPr/>
            <p:nvPr/>
          </p:nvSpPr>
          <p:spPr>
            <a:xfrm rot="-599893">
              <a:off x="476252" y="4762502"/>
              <a:ext cx="1429002" cy="1429002"/>
            </a:xfrm>
            <a:prstGeom prst="roundRect">
              <a:avLst>
                <a:gd fmla="val 50000" name="adj"/>
              </a:avLst>
            </a:prstGeom>
            <a:solidFill>
              <a:srgbClr val="0EA5E9">
                <a:alpha val="4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g3e4b1e92257_31_6999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e4b1e92257_31_6999"/>
          <p:cNvSpPr/>
          <p:nvPr/>
        </p:nvSpPr>
        <p:spPr>
          <a:xfrm>
            <a:off x="970225" y="4347650"/>
            <a:ext cx="664800" cy="57300"/>
          </a:xfrm>
          <a:prstGeom prst="roundRect">
            <a:avLst>
              <a:gd fmla="val 4986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4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8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4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Cechy (Features)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4"/>
          <p:cNvSpPr txBox="1"/>
          <p:nvPr>
            <p:ph idx="1" type="body"/>
          </p:nvPr>
        </p:nvSpPr>
        <p:spPr>
          <a:xfrm>
            <a:off x="1143000" y="2095500"/>
            <a:ext cx="99060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5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Cechy numeryczne (16)</a:t>
            </a:r>
            <a:endParaRPr b="1" sz="15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LAT, LON, area, year, turbine power, water depth (min/max/mean), distance from shore (min/max/mean), port distances, lifetime, wind speed, wave height </a:t>
            </a:r>
            <a:endParaRPr sz="1600">
              <a:solidFill>
                <a:srgbClr val="47556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 sz="15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Cechy kategoryczne (zakodowane One-hot)</a:t>
            </a:r>
            <a:endParaRPr b="1" sz="15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country, turbine producer, foundation type, OSS responsibility, cable, connection, model type</a:t>
            </a:r>
            <a:endParaRPr sz="1600">
              <a:solidFill>
                <a:srgbClr val="47556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7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5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Trening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5"/>
          <p:cNvSpPr txBox="1"/>
          <p:nvPr>
            <p:ph idx="1" type="body"/>
          </p:nvPr>
        </p:nvSpPr>
        <p:spPr>
          <a:xfrm>
            <a:off x="1143000" y="2000250"/>
            <a:ext cx="9906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Usunięcie 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wiersz</a:t>
            </a:r>
            <a:r>
              <a:rPr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z brakującą wartością docelową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Usunięcie 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wartości odstając</a:t>
            </a:r>
            <a:r>
              <a:rPr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ych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(metoda IQR, reguła 1,5×)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Uzupełni</a:t>
            </a:r>
            <a:r>
              <a:rPr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enie 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brakując</a:t>
            </a:r>
            <a:r>
              <a:rPr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ych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cech (mediana)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Ustandaryzowanie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cech (</a:t>
            </a:r>
            <a:r>
              <a:rPr lang="pl-PL" sz="20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StandardScaler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Podział na zbiór treningowy/testowy 80/20 (seed 42)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6.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5-krotna walidacja krzyżowa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7.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Wybr</a:t>
            </a:r>
            <a:r>
              <a:rPr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anie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najlepsz</a:t>
            </a:r>
            <a:r>
              <a:rPr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ego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modelu według R</a:t>
            </a:r>
            <a:r>
              <a:rPr b="0" baseline="3000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na zbiorze testowym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6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6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6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7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6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Modele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6"/>
          <p:cNvSpPr txBox="1"/>
          <p:nvPr>
            <p:ph idx="1" type="body"/>
          </p:nvPr>
        </p:nvSpPr>
        <p:spPr>
          <a:xfrm>
            <a:off x="1143000" y="2000250"/>
            <a:ext cx="9906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Ridge Regression</a:t>
            </a:r>
            <a:r>
              <a:rPr b="0" lang="pl-PL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– Regularyzacja L2</a:t>
            </a:r>
            <a:endParaRPr b="0"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LassoCV</a:t>
            </a:r>
            <a:r>
              <a:rPr b="0" lang="pl-PL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– L1, α ∈ [10⁻³, 10³] (10 wartości)</a:t>
            </a:r>
            <a:endParaRPr b="0"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ElasticNetCV</a:t>
            </a:r>
            <a:r>
              <a:rPr b="0" lang="pl-PL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– Mieszanka L1/L2, współczynnik ℓ1 ∈ {0.1, 0.5, 0.7, 0.9, 0.95, 0.99, 1.0}</a:t>
            </a:r>
            <a:endParaRPr b="0"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r>
              <a:rPr b="0" lang="pl-PL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– Zespół drzew decyzyjnych</a:t>
            </a:r>
            <a:endParaRPr b="0"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Gradient Boosting</a:t>
            </a:r>
            <a:r>
              <a:rPr b="0" lang="pl-PL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– Sekwencyjne drzewa wzmacniane</a:t>
            </a:r>
            <a:endParaRPr b="0"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0" i="1"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6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7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Ważność Cech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7"/>
          <p:cNvSpPr txBox="1"/>
          <p:nvPr>
            <p:ph idx="1" type="body"/>
          </p:nvPr>
        </p:nvSpPr>
        <p:spPr>
          <a:xfrm>
            <a:off x="1143000" y="2000250"/>
            <a:ext cx="9906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Najważniejsze cechy wyekstrahowane z najlepszego modelu:</a:t>
            </a:r>
            <a:endParaRPr b="1" sz="20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800"/>
              </a:spcBef>
              <a:spcAft>
                <a:spcPts val="0"/>
              </a:spcAft>
              <a:buClr>
                <a:srgbClr val="475569"/>
              </a:buClr>
              <a:buSzPts val="2000"/>
              <a:buFont typeface="Inter"/>
              <a:buChar char="●"/>
            </a:pPr>
            <a:r>
              <a:rPr b="1" lang="pl-PL" sz="20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commissioning_year</a:t>
            </a:r>
            <a:r>
              <a:rPr lang="pl-PL" sz="20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(rok oddania do eksploatacji)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125"/>
              </a:spcBef>
              <a:spcAft>
                <a:spcPts val="0"/>
              </a:spcAft>
              <a:buClr>
                <a:srgbClr val="475569"/>
              </a:buClr>
              <a:buSzPts val="2000"/>
              <a:buFont typeface="Inter"/>
              <a:buChar char="●"/>
            </a:pPr>
            <a:r>
              <a:rPr b="1" lang="pl-PL" sz="20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water_depth_max_m</a:t>
            </a:r>
            <a:r>
              <a:rPr lang="pl-PL" sz="20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(maksymalna głębokość wody [m])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125"/>
              </a:spcBef>
              <a:spcAft>
                <a:spcPts val="0"/>
              </a:spcAft>
              <a:buClr>
                <a:srgbClr val="475569"/>
              </a:buClr>
              <a:buSzPts val="2000"/>
              <a:buFont typeface="Inter"/>
              <a:buChar char="●"/>
            </a:pPr>
            <a:r>
              <a:rPr b="1" lang="pl-PL" sz="20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turbine_power_MW</a:t>
            </a:r>
            <a:r>
              <a:rPr lang="pl-PL" sz="20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(moc turbiny [MW])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125"/>
              </a:spcBef>
              <a:spcAft>
                <a:spcPts val="0"/>
              </a:spcAft>
              <a:buClr>
                <a:srgbClr val="475569"/>
              </a:buClr>
              <a:buSzPts val="2000"/>
              <a:buFont typeface="Inter"/>
              <a:buChar char="●"/>
            </a:pPr>
            <a:r>
              <a:rPr b="1" lang="pl-PL" sz="20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area_sqkm</a:t>
            </a:r>
            <a:r>
              <a:rPr lang="pl-PL" sz="20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(powierzchnia [km²])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125"/>
              </a:spcBef>
              <a:spcAft>
                <a:spcPts val="0"/>
              </a:spcAft>
              <a:buClr>
                <a:srgbClr val="475569"/>
              </a:buClr>
              <a:buSzPts val="2000"/>
              <a:buFont typeface="Inter"/>
              <a:buChar char="●"/>
            </a:pPr>
            <a:r>
              <a:rPr b="1" lang="pl-PL" sz="20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mean_wave_height_m</a:t>
            </a:r>
            <a:r>
              <a:rPr lang="pl-PL" sz="20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l-PL" sz="2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(średnia wysokość fali [m])</a:t>
            </a:r>
            <a:endParaRPr b="0" sz="2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4b1e92257_31_6988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95250" lIns="95250" spcFirstLastPara="1" rIns="95250" wrap="square" tIns="952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Analiza Podobieństwa</a:t>
            </a:r>
            <a:endParaRPr b="1" sz="120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26" name="Google Shape;426;g3e4b1e92257_31_6988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g3e4b1e92257_31_6988"/>
          <p:cNvGrpSpPr/>
          <p:nvPr/>
        </p:nvGrpSpPr>
        <p:grpSpPr>
          <a:xfrm>
            <a:off x="363053" y="738431"/>
            <a:ext cx="11733697" cy="5643319"/>
            <a:chOff x="363053" y="738431"/>
            <a:chExt cx="11733697" cy="5643319"/>
          </a:xfrm>
        </p:grpSpPr>
        <p:sp>
          <p:nvSpPr>
            <p:cNvPr id="428" name="Google Shape;428;g3e4b1e92257_31_6988"/>
            <p:cNvSpPr/>
            <p:nvPr/>
          </p:nvSpPr>
          <p:spPr>
            <a:xfrm rot="900209">
              <a:off x="9524908" y="952557"/>
              <a:ext cx="1905146" cy="1905146"/>
            </a:xfrm>
            <a:prstGeom prst="roundRect">
              <a:avLst>
                <a:gd fmla="val 10000" name="adj"/>
              </a:avLst>
            </a:prstGeom>
            <a:solidFill>
              <a:srgbClr val="0EA5E9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g3e4b1e92257_31_6988"/>
            <p:cNvSpPr/>
            <p:nvPr/>
          </p:nvSpPr>
          <p:spPr>
            <a:xfrm>
              <a:off x="9810750" y="4095750"/>
              <a:ext cx="2286000" cy="2286000"/>
            </a:xfrm>
            <a:prstGeom prst="ellipse">
              <a:avLst/>
            </a:prstGeom>
            <a:solidFill>
              <a:srgbClr val="0EA5E9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g3e4b1e92257_31_6988"/>
            <p:cNvSpPr/>
            <p:nvPr/>
          </p:nvSpPr>
          <p:spPr>
            <a:xfrm rot="-599893">
              <a:off x="476252" y="4762502"/>
              <a:ext cx="1429002" cy="1429002"/>
            </a:xfrm>
            <a:prstGeom prst="roundRect">
              <a:avLst>
                <a:gd fmla="val 50000" name="adj"/>
              </a:avLst>
            </a:prstGeom>
            <a:solidFill>
              <a:srgbClr val="0EA5E9">
                <a:alpha val="4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1" name="Google Shape;431;g3e4b1e92257_31_6988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e4b1e92257_31_6988"/>
          <p:cNvSpPr/>
          <p:nvPr/>
        </p:nvSpPr>
        <p:spPr>
          <a:xfrm>
            <a:off x="970225" y="4347650"/>
            <a:ext cx="664800" cy="57300"/>
          </a:xfrm>
          <a:prstGeom prst="roundRect">
            <a:avLst>
              <a:gd fmla="val 4986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9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9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9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6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9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Metryki porównawcze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1" name="Google Shape;441;p29"/>
          <p:cNvSpPr/>
          <p:nvPr/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9"/>
          <p:cNvSpPr txBox="1"/>
          <p:nvPr>
            <p:ph idx="1" type="body"/>
          </p:nvPr>
        </p:nvSpPr>
        <p:spPr>
          <a:xfrm>
            <a:off x="1143000" y="2000250"/>
            <a:ext cx="9906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Char char="●"/>
            </a:pPr>
            <a:r>
              <a:rPr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Powierzchnia [km²]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Char char="●"/>
            </a:pPr>
            <a:r>
              <a:rPr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Średnia głębokość wody [m]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Char char="●"/>
            </a:pPr>
            <a:r>
              <a:rPr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Średnia odległość od brzegu [km]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Char char="●"/>
            </a:pPr>
            <a:r>
              <a:rPr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Moc zainstalowana [MW]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Char char="●"/>
            </a:pPr>
            <a:r>
              <a:rPr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Moc turbiny [MW]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Char char="●"/>
            </a:pPr>
            <a:r>
              <a:rPr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Odległość od portu [km]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Char char="●"/>
            </a:pPr>
            <a:r>
              <a:rPr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Odległość od portu budowy [km]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Char char="●"/>
            </a:pPr>
            <a:r>
              <a:rPr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Średnia prędkość wiatru [m/s]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Char char="●"/>
            </a:pPr>
            <a:r>
              <a:rPr lang="pl-PL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Średnia wysokość fali [m]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0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0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866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0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Metody skalowania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0"/>
          <p:cNvSpPr txBox="1"/>
          <p:nvPr>
            <p:ph idx="1" type="body"/>
          </p:nvPr>
        </p:nvSpPr>
        <p:spPr>
          <a:xfrm>
            <a:off x="1143000" y="2000250"/>
            <a:ext cx="9906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Inter"/>
              <a:buChar char="●"/>
            </a:pPr>
            <a:r>
              <a:rPr lang="pl-PL" sz="2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Z-score – Standaryzacja do µ = 0, σ = 1</a:t>
            </a:r>
            <a:endParaRPr sz="20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875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Inter"/>
              <a:buChar char="●"/>
            </a:pPr>
            <a:r>
              <a:rPr lang="pl-PL" sz="2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Różnica procentowa – Względem wartości proponowanej farmy</a:t>
            </a:r>
            <a:endParaRPr sz="20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875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Inter"/>
              <a:buChar char="●"/>
            </a:pPr>
            <a:r>
              <a:rPr lang="pl-PL" sz="2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Wartości surowe – Brak normalizacji</a:t>
            </a:r>
            <a:endParaRPr sz="20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1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1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6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1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Znajdowanie farm porównywalnych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1" name="Google Shape;461;p31"/>
          <p:cNvSpPr/>
          <p:nvPr/>
        </p:nvSpPr>
        <p:spPr>
          <a:xfrm>
            <a:off x="762000" y="1714500"/>
            <a:ext cx="10668000" cy="469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1"/>
          <p:cNvSpPr txBox="1"/>
          <p:nvPr/>
        </p:nvSpPr>
        <p:spPr>
          <a:xfrm>
            <a:off x="1143000" y="2095500"/>
            <a:ext cx="99060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DYSTANS EUKLIDESOWY (d)</a:t>
            </a:r>
            <a:endParaRPr b="1" sz="18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2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Podobieństwo: </a:t>
            </a:r>
            <a:r>
              <a:rPr b="1" i="1" lang="pl-PL" sz="24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1 / (1 + d)</a:t>
            </a:r>
            <a:endParaRPr b="1" sz="24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pl-PL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Wyższa wartość oznacza większe podobieństwo między farmami.</a:t>
            </a:r>
            <a:endParaRPr b="0" sz="14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3" name="Google Shape;46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338" y="2527275"/>
            <a:ext cx="4429325" cy="109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2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95250" lIns="95250" spcFirstLastPara="1" rIns="95250" wrap="square" tIns="952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Interfejs Użytkownika</a:t>
            </a:r>
            <a:endParaRPr b="1" sz="120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32"/>
          <p:cNvGrpSpPr/>
          <p:nvPr/>
        </p:nvGrpSpPr>
        <p:grpSpPr>
          <a:xfrm>
            <a:off x="363053" y="738431"/>
            <a:ext cx="11733697" cy="5643319"/>
            <a:chOff x="363053" y="738431"/>
            <a:chExt cx="11733697" cy="5643319"/>
          </a:xfrm>
        </p:grpSpPr>
        <p:sp>
          <p:nvSpPr>
            <p:cNvPr id="471" name="Google Shape;471;p32"/>
            <p:cNvSpPr/>
            <p:nvPr/>
          </p:nvSpPr>
          <p:spPr>
            <a:xfrm rot="900209">
              <a:off x="9524908" y="952557"/>
              <a:ext cx="1905146" cy="1905146"/>
            </a:xfrm>
            <a:prstGeom prst="roundRect">
              <a:avLst>
                <a:gd fmla="val 10000" name="adj"/>
              </a:avLst>
            </a:prstGeom>
            <a:solidFill>
              <a:srgbClr val="0EA5E9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2"/>
            <p:cNvSpPr/>
            <p:nvPr/>
          </p:nvSpPr>
          <p:spPr>
            <a:xfrm>
              <a:off x="9810750" y="4095750"/>
              <a:ext cx="2286000" cy="2286000"/>
            </a:xfrm>
            <a:prstGeom prst="ellipse">
              <a:avLst/>
            </a:prstGeom>
            <a:solidFill>
              <a:srgbClr val="0EA5E9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2"/>
            <p:cNvSpPr/>
            <p:nvPr/>
          </p:nvSpPr>
          <p:spPr>
            <a:xfrm rot="-599893">
              <a:off x="476252" y="4762502"/>
              <a:ext cx="1429002" cy="1429002"/>
            </a:xfrm>
            <a:prstGeom prst="roundRect">
              <a:avLst>
                <a:gd fmla="val 50000" name="adj"/>
              </a:avLst>
            </a:prstGeom>
            <a:solidFill>
              <a:srgbClr val="0EA5E9">
                <a:alpha val="4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4" name="Google Shape;474;p32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2"/>
          <p:cNvSpPr/>
          <p:nvPr/>
        </p:nvSpPr>
        <p:spPr>
          <a:xfrm>
            <a:off x="1010750" y="4344650"/>
            <a:ext cx="728100" cy="57300"/>
          </a:xfrm>
          <a:prstGeom prst="roundRect">
            <a:avLst>
              <a:gd fmla="val 4986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3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3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3"/>
          <p:cNvSpPr txBox="1"/>
          <p:nvPr/>
        </p:nvSpPr>
        <p:spPr>
          <a:xfrm>
            <a:off x="762000" y="3810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Interaktywna mapa rentowności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84" name="Google Shape;484;p33"/>
          <p:cNvPicPr preferRelativeResize="0"/>
          <p:nvPr/>
        </p:nvPicPr>
        <p:blipFill rotWithShape="1">
          <a:blip r:embed="rId4">
            <a:alphaModFix/>
          </a:blip>
          <a:srcRect b="13445" l="0" r="0" t="13445"/>
          <a:stretch/>
        </p:blipFill>
        <p:spPr>
          <a:xfrm>
            <a:off x="5381625" y="1714500"/>
            <a:ext cx="6048300" cy="466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5" name="Google Shape;485;p33"/>
          <p:cNvGrpSpPr/>
          <p:nvPr/>
        </p:nvGrpSpPr>
        <p:grpSpPr>
          <a:xfrm>
            <a:off x="762000" y="1714500"/>
            <a:ext cx="4333800" cy="4667400"/>
            <a:chOff x="762000" y="1714500"/>
            <a:chExt cx="4333800" cy="4667400"/>
          </a:xfrm>
        </p:grpSpPr>
        <p:sp>
          <p:nvSpPr>
            <p:cNvPr id="486" name="Google Shape;486;p33"/>
            <p:cNvSpPr/>
            <p:nvPr/>
          </p:nvSpPr>
          <p:spPr>
            <a:xfrm>
              <a:off x="762000" y="1714500"/>
              <a:ext cx="4333800" cy="4667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3"/>
            <p:cNvSpPr txBox="1"/>
            <p:nvPr/>
          </p:nvSpPr>
          <p:spPr>
            <a:xfrm>
              <a:off x="952500" y="1905000"/>
              <a:ext cx="3952800" cy="428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5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Kolory </a:t>
              </a:r>
              <a:r>
                <a:rPr b="1" lang="pl-PL" sz="15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według:</a:t>
              </a:r>
              <a:endParaRPr b="1" sz="15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LCOE (Indeksowane) [EUR/MWh], </a:t>
              </a:r>
              <a:r>
                <a:rPr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CAPEX jednostkowy</a:t>
              </a:r>
              <a:r>
                <a:rPr b="0"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[EUR/MW], Roczn</a:t>
              </a:r>
              <a:r>
                <a:rPr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y</a:t>
              </a:r>
              <a:r>
                <a:rPr b="0"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OPEX [EUR/MWh], Całkowity budżet [EUR]</a:t>
              </a:r>
              <a:endParaRPr b="0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l-PL" sz="15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Rozmiar znacznika:</a:t>
              </a:r>
              <a:endParaRPr b="1" sz="15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Proporcjonalny do mocy zainstalowanej</a:t>
              </a:r>
              <a:endParaRPr b="0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l-PL" sz="15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Etykieta po najechaniu:</a:t>
              </a:r>
              <a:endParaRPr b="1" sz="15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Nazwa farmy, kraj, kluczowe wskaźniki i warunki środowiskowe</a:t>
              </a:r>
              <a:endParaRPr b="0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l-PL" sz="15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Zasięg geograficzny:</a:t>
              </a:r>
              <a:endParaRPr b="1" sz="15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-PL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Wybrzeże Europy</a:t>
              </a:r>
              <a:endParaRPr b="0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4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4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Interfejs predykcji – Formularz wejściowy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96" name="Google Shape;496;p34"/>
          <p:cNvSpPr/>
          <p:nvPr/>
        </p:nvSpPr>
        <p:spPr>
          <a:xfrm>
            <a:off x="762000" y="1714500"/>
            <a:ext cx="7718400" cy="466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4"/>
          <p:cNvSpPr txBox="1"/>
          <p:nvPr>
            <p:ph idx="1" type="body"/>
          </p:nvPr>
        </p:nvSpPr>
        <p:spPr>
          <a:xfrm>
            <a:off x="1047750" y="2000250"/>
            <a:ext cx="10096500" cy="409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66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Pola formularza:</a:t>
            </a:r>
            <a:endParaRPr b="1" sz="1665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1. Szerokość i długość geogr. (LAT, LON):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numeryczne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2. Powierzchnia [km2]: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numeryczne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3. Kraj: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lista rozwijana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4. Rok oddania do użytku: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rok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5. Moc turbiny [MW]: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numeryczne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6. Producent turbiny: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tekst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7. Typ fundamentu: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kategoria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8. Głębokość wody min/max [m]: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zakres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9. Odległość od brzegu min/max [km]: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zakres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10. Okres eksploatacji projektu [lata]: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numeryczne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11. Moc zainstalowana [MW]:</a:t>
            </a:r>
            <a:r>
              <a:rPr b="0" lang="pl-PL" sz="12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numeryczne</a:t>
            </a:r>
            <a:endParaRPr b="0" sz="129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1" sz="129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10382250" y="5334000"/>
            <a:ext cx="76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9" name="Google Shape;4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750" y="1714500"/>
            <a:ext cx="2105902" cy="466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5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5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9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5"/>
          <p:cNvSpPr/>
          <p:nvPr/>
        </p:nvSpPr>
        <p:spPr>
          <a:xfrm>
            <a:off x="762000" y="1714500"/>
            <a:ext cx="10668000" cy="3093000"/>
          </a:xfrm>
          <a:prstGeom prst="roundRect">
            <a:avLst>
              <a:gd fmla="val 16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5"/>
          <p:cNvSpPr txBox="1"/>
          <p:nvPr/>
        </p:nvSpPr>
        <p:spPr>
          <a:xfrm>
            <a:off x="10382250" y="539242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>
                <a:solidFill>
                  <a:srgbClr val="E2E8F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insights</a:t>
            </a:r>
            <a:endParaRPr sz="4000">
              <a:solidFill>
                <a:srgbClr val="E2E8F0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09" name="Google Shape;509;p35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44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Interfejs predykcji – Przetwarzanie i wyniki</a:t>
            </a:r>
            <a:endParaRPr b="1" sz="444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10" name="Google Shape;510;p35"/>
          <p:cNvSpPr txBox="1"/>
          <p:nvPr>
            <p:ph idx="1" type="body"/>
          </p:nvPr>
        </p:nvSpPr>
        <p:spPr>
          <a:xfrm>
            <a:off x="1047750" y="1976700"/>
            <a:ext cx="10096500" cy="41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 kliknięciu „Predict”:</a:t>
            </a:r>
            <a:endParaRPr b="1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125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Automatyczne wzbogacanie danych (API):</a:t>
            </a:r>
            <a:r>
              <a:rPr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l-PL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prędkość wiatru, wysokość fal i odległości od portów</a:t>
            </a:r>
            <a:endParaRPr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Przypisanie szczegółów połączeń:</a:t>
            </a:r>
            <a:r>
              <a:rPr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l-PL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na podstawie reguł kraj-rok</a:t>
            </a:r>
            <a:endParaRPr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Uruchomienie inferencji modelu ML:</a:t>
            </a:r>
            <a:r>
              <a:rPr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l-PL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wybór najlepszego modelu</a:t>
            </a:r>
            <a:endParaRPr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b="1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Obliczenie pełnych wskaźników rentowności</a:t>
            </a:r>
            <a:endParaRPr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 Karty Wynikowe:</a:t>
            </a:r>
            <a:endParaRPr b="1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125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Inter"/>
              <a:buChar char="●"/>
            </a:pPr>
            <a:r>
              <a:rPr lang="pl-PL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Całkowity budżet [EUR]</a:t>
            </a:r>
            <a:endParaRPr sz="14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Inter"/>
              <a:buChar char="●"/>
            </a:pPr>
            <a:r>
              <a:rPr lang="pl-PL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CAPEX jednostkowy [EUR/MW]</a:t>
            </a:r>
            <a:endParaRPr sz="14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Inter"/>
              <a:buChar char="●"/>
            </a:pPr>
            <a:r>
              <a:rPr lang="pl-PL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Roczny OPEX [EUR]</a:t>
            </a:r>
            <a:endParaRPr sz="14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400"/>
              </a:spcAft>
              <a:buClr>
                <a:srgbClr val="64748B"/>
              </a:buClr>
              <a:buSzPts val="1400"/>
              <a:buFont typeface="Inter"/>
              <a:buChar char="●"/>
            </a:pPr>
            <a:r>
              <a:rPr lang="pl-PL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LCOE [EUR/MWh]</a:t>
            </a:r>
            <a:endParaRPr sz="14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1" name="Google Shape;51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4981812"/>
            <a:ext cx="10667999" cy="1583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99" y="1632575"/>
            <a:ext cx="10045200" cy="4904400"/>
          </a:xfrm>
          <a:prstGeom prst="roundRect">
            <a:avLst>
              <a:gd fmla="val 2666" name="adj"/>
            </a:avLst>
          </a:prstGeom>
          <a:noFill/>
          <a:ln>
            <a:noFill/>
          </a:ln>
        </p:spPr>
      </p:pic>
      <p:sp>
        <p:nvSpPr>
          <p:cNvPr id="517" name="Google Shape;517;p36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6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8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6"/>
          <p:cNvSpPr txBox="1"/>
          <p:nvPr/>
        </p:nvSpPr>
        <p:spPr>
          <a:xfrm>
            <a:off x="762000" y="3810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Interfejs podobieństwa farm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3209825" y="2099750"/>
            <a:ext cx="7370100" cy="2355600"/>
          </a:xfrm>
          <a:prstGeom prst="roundRect">
            <a:avLst>
              <a:gd fmla="val 1558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8575">
              <a:srgbClr val="1E293B">
                <a:alpha val="39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6"/>
          <p:cNvSpPr txBox="1"/>
          <p:nvPr/>
        </p:nvSpPr>
        <p:spPr>
          <a:xfrm>
            <a:off x="3423875" y="2314675"/>
            <a:ext cx="6889800" cy="21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Konfiguracja i wyniki:</a:t>
            </a:r>
            <a:endParaRPr b="1" sz="16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Inter"/>
              <a:buChar char="●"/>
            </a:pPr>
            <a:r>
              <a:rPr lang="pl-PL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Konfigurowalna lista metryk porównawczych</a:t>
            </a:r>
            <a:endParaRPr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125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Inter"/>
              <a:buChar char="●"/>
            </a:pPr>
            <a:r>
              <a:rPr lang="pl-PL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Wybór metody skalowania danych</a:t>
            </a:r>
            <a:endParaRPr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125"/>
              </a:spcBef>
              <a:spcAft>
                <a:spcPts val="1125"/>
              </a:spcAft>
              <a:buClr>
                <a:srgbClr val="334155"/>
              </a:buClr>
              <a:buSzPts val="1600"/>
              <a:buFont typeface="Inter"/>
              <a:buChar char="●"/>
            </a:pPr>
            <a:r>
              <a:rPr b="1" lang="pl-PL" sz="16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Wynik:</a:t>
            </a:r>
            <a:r>
              <a:rPr b="1" lang="pl-PL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pl-PL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Tabela z 5 najbardziej podobnymi projektami i ich charakterystyką</a:t>
            </a:r>
            <a:endParaRPr b="1"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7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7"/>
          <p:cNvSpPr/>
          <p:nvPr/>
        </p:nvSpPr>
        <p:spPr>
          <a:xfrm>
            <a:off x="762000" y="1285875"/>
            <a:ext cx="571500" cy="57300"/>
          </a:xfrm>
          <a:prstGeom prst="roundRect">
            <a:avLst>
              <a:gd fmla="val 49998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7"/>
          <p:cNvSpPr txBox="1"/>
          <p:nvPr>
            <p:ph type="title"/>
          </p:nvPr>
        </p:nvSpPr>
        <p:spPr>
          <a:xfrm>
            <a:off x="762000" y="381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48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Podsumowanie</a:t>
            </a:r>
            <a:endParaRPr b="1" sz="48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762000" y="1714500"/>
            <a:ext cx="10668000" cy="4572000"/>
          </a:xfrm>
          <a:prstGeom prst="roundRect">
            <a:avLst>
              <a:gd fmla="val 104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7"/>
          <p:cNvSpPr txBox="1"/>
          <p:nvPr>
            <p:ph idx="1" type="body"/>
          </p:nvPr>
        </p:nvSpPr>
        <p:spPr>
          <a:xfrm>
            <a:off x="1047750" y="1952625"/>
            <a:ext cx="10096500" cy="409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Kompletny proces: surowe dane CSV → oczyszczone i wzbogacone dane → obliczenia rentowności → modele ML → interaktywny interfejs użytkownika.</a:t>
            </a:r>
            <a:endParaRPr b="0"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Integracja z zewnętrznymi API (Global Wind Atlas, Open-Meteo, World Bank CPI, Forex).</a:t>
            </a:r>
            <a:endParaRPr b="0"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Wytrenowanie 5 modeli regresji; automatyczny wybór najlepszego na podstawie R².</a:t>
            </a:r>
            <a:endParaRPr b="0"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Inter"/>
              <a:buChar char="●"/>
            </a:pPr>
            <a:r>
              <a:rPr b="0" lang="pl-PL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Silnik podobieństwa do znajdowania porównywalnych, historycznych farm.</a:t>
            </a:r>
            <a:endParaRPr b="0"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Wykorzystane technologie</a:t>
            </a:r>
            <a:r>
              <a:rPr b="1" lang="pl-PL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 sz="16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pl-PL" sz="14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Python • Pandas • Scikit-learn • Plotly / Dash • GeoPandas • wind-stats • wbgapi</a:t>
            </a:r>
            <a:endParaRPr b="0" sz="14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33" name="Google Shape;533;p37"/>
          <p:cNvGrpSpPr/>
          <p:nvPr/>
        </p:nvGrpSpPr>
        <p:grpSpPr>
          <a:xfrm>
            <a:off x="10382250" y="5238750"/>
            <a:ext cx="762000" cy="820420"/>
            <a:chOff x="10382250" y="5238750"/>
            <a:chExt cx="762000" cy="820420"/>
          </a:xfrm>
        </p:grpSpPr>
        <p:sp>
          <p:nvSpPr>
            <p:cNvPr id="534" name="Google Shape;534;p37"/>
            <p:cNvSpPr/>
            <p:nvPr/>
          </p:nvSpPr>
          <p:spPr>
            <a:xfrm>
              <a:off x="10382250" y="5238750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7"/>
            <p:cNvSpPr txBox="1"/>
            <p:nvPr/>
          </p:nvSpPr>
          <p:spPr>
            <a:xfrm>
              <a:off x="10382250" y="529717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4000">
                  <a:solidFill>
                    <a:srgbClr val="E2E8F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done_all</a:t>
              </a:r>
              <a:endParaRPr sz="4000">
                <a:solidFill>
                  <a:srgbClr val="E2E8F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8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8"/>
          <p:cNvSpPr/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8"/>
          <p:cNvSpPr txBox="1"/>
          <p:nvPr>
            <p:ph type="title"/>
          </p:nvPr>
        </p:nvSpPr>
        <p:spPr>
          <a:xfrm>
            <a:off x="762000" y="1714500"/>
            <a:ext cx="10668000" cy="238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72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Dziękujemy za uwagę ☺</a:t>
            </a:r>
            <a:endParaRPr b="1" i="0" sz="7200">
              <a:solidFill>
                <a:srgbClr val="1E293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43" name="Google Shape;543;p38"/>
          <p:cNvSpPr txBox="1"/>
          <p:nvPr>
            <p:ph idx="1" type="body"/>
          </p:nvPr>
        </p:nvSpPr>
        <p:spPr>
          <a:xfrm>
            <a:off x="762000" y="409575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pl-PL" sz="3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Pytania?</a:t>
            </a:r>
            <a:endParaRPr b="0" i="0" sz="32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4" name="Google Shape;544;p38"/>
          <p:cNvSpPr txBox="1"/>
          <p:nvPr/>
        </p:nvSpPr>
        <p:spPr>
          <a:xfrm>
            <a:off x="5715000" y="4835245"/>
            <a:ext cx="76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4000">
                <a:solidFill>
                  <a:srgbClr val="E2E8F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question_answer</a:t>
            </a:r>
            <a:endParaRPr b="0" i="0" sz="4000">
              <a:solidFill>
                <a:srgbClr val="E2E8F0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2026-05-26T12:50:42Z</dcterms:created>
  <dc:creator>Weronika Gozdera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039641-b25d-4728-8e8b-0459e2c0a6e6_Enabled">
    <vt:lpwstr>true</vt:lpwstr>
  </property>
  <property fmtid="{D5CDD505-2E9C-101B-9397-08002B2CF9AE}" pid="3" name="MSIP_Label_e3039641-b25d-4728-8e8b-0459e2c0a6e6_SetDate">
    <vt:lpwstr>2026-05-26T14:20:29Z</vt:lpwstr>
  </property>
  <property fmtid="{D5CDD505-2E9C-101B-9397-08002B2CF9AE}" pid="4" name="MSIP_Label_e3039641-b25d-4728-8e8b-0459e2c0a6e6_Method">
    <vt:lpwstr>Standard</vt:lpwstr>
  </property>
  <property fmtid="{D5CDD505-2E9C-101B-9397-08002B2CF9AE}" pid="5" name="MSIP_Label_e3039641-b25d-4728-8e8b-0459e2c0a6e6_Name">
    <vt:lpwstr>Regular</vt:lpwstr>
  </property>
  <property fmtid="{D5CDD505-2E9C-101B-9397-08002B2CF9AE}" pid="6" name="MSIP_Label_e3039641-b25d-4728-8e8b-0459e2c0a6e6_SiteId">
    <vt:lpwstr>888d5a15-2cbe-4e8b-b206-35923762a297</vt:lpwstr>
  </property>
  <property fmtid="{D5CDD505-2E9C-101B-9397-08002B2CF9AE}" pid="7" name="MSIP_Label_e3039641-b25d-4728-8e8b-0459e2c0a6e6_ActionId">
    <vt:lpwstr>dfe6162b-1d0d-469f-a655-16cb20277e82</vt:lpwstr>
  </property>
  <property fmtid="{D5CDD505-2E9C-101B-9397-08002B2CF9AE}" pid="8" name="MSIP_Label_e3039641-b25d-4728-8e8b-0459e2c0a6e6_ContentBits">
    <vt:lpwstr>0</vt:lpwstr>
  </property>
  <property fmtid="{D5CDD505-2E9C-101B-9397-08002B2CF9AE}" pid="9" name="MSIP_Label_e3039641-b25d-4728-8e8b-0459e2c0a6e6_Tag">
    <vt:lpwstr>10, 3, 0, 1</vt:lpwstr>
  </property>
</Properties>
</file>